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E2761"/>
                </a:solidFill>
                <a:latin typeface="Calibri"/>
              </a:defRPr>
            </a:pPr>
            <a:r>
              <a:rPr sz="1200" b="0" i="0" u="none" strike="noStrike">
                <a:solidFill>
                  <a:srgbClr val="1E2761"/>
                </a:solidFill>
                <a:latin typeface="Calibri"/>
              </a:rPr>
              <a:t>Attrition Rate by Department (illustrative)</a:t>
            </a:r>
          </a:p>
        </c:rich>
      </c:tx>
      <c:layout/>
      <c:overlay val="0"/>
    </c:title>
    <c:autoTitleDeleted val="0"/>
    <c:plotArea>
      <c:layout/>
      <c:barChart>
        <c:barDir val="col"/>
        <c:grouping val="clustered"/>
        <c:varyColors val="0"/>
        <c:ser>
          <c:idx val="0"/>
          <c:order val="0"/>
          <c:tx>
            <c:strRef>
              <c:f>Sheet1!$B$1</c:f>
              <c:strCache>
                <c:ptCount val="1"/>
                <c:pt idx="0">
                  <c:v>Attrition Rate (%)</c:v>
                </c:pt>
              </c:strCache>
            </c:strRef>
          </c:tx>
          <c:spPr>
            <a:solidFill>
              <a:srgbClr val="1E2761"/>
            </a:solidFill>
            <a:effectLst/>
          </c:spPr>
          <c:invertIfNegative val="0"/>
          <c:dLbls>
            <c:numFmt formatCode="#,##0" sourceLinked="0"/>
            <c:txPr>
              <a:bodyPr/>
              <a:lstStyle/>
              <a:p>
                <a:pPr>
                  <a:defRPr b="0" i="0" strike="noStrike" sz="900" u="none">
                    <a:solidFill>
                      <a:srgbClr val="3B3F4C"/>
                    </a:solidFill>
                    <a:latin typeface="Arial"/>
                  </a:defRPr>
                </a:pPr>
              </a:p>
            </c:txPr>
            <c:showLegendKey val="0"/>
            <c:showVal val="1"/>
            <c:showCatName val="0"/>
            <c:showSerName val="0"/>
            <c:showPercent val="0"/>
            <c:showBubbleSize val="0"/>
            <c:showLeaderLines val="0"/>
          </c:dLbls>
          <c:cat>
            <c:multiLvlStrRef>
              <c:f>Sheet1!$A$2:$A$7</c:f>
              <c:multiLvlStrCache>
                <c:ptCount val="6"/>
                <c:lvl>
                  <c:pt idx="0">
                    <c:v>Sales</c:v>
                  </c:pt>
                  <c:pt idx="1">
                    <c:v>R&amp;D</c:v>
                  </c:pt>
                  <c:pt idx="2">
                    <c:v>HR</c:v>
                  </c:pt>
                  <c:pt idx="3">
                    <c:v>IT</c:v>
                  </c:pt>
                  <c:pt idx="4">
                    <c:v>Finance</c:v>
                  </c:pt>
                  <c:pt idx="5">
                    <c:v>Ops</c:v>
                  </c:pt>
                </c:lvl>
              </c:multiLvlStrCache>
            </c:multiLvlStrRef>
          </c:cat>
          <c:val>
            <c:numRef>
              <c:f>Sheet1!$B$2:$B$7</c:f>
              <c:numCache>
                <c:formatCode>General</c:formatCode>
                <c:ptCount val="6"/>
                <c:pt idx="0">
                  <c:v>24</c:v>
                </c:pt>
                <c:pt idx="1">
                  <c:v>14</c:v>
                </c:pt>
                <c:pt idx="2">
                  <c:v>12</c:v>
                </c:pt>
                <c:pt idx="3">
                  <c:v>10</c:v>
                </c:pt>
                <c:pt idx="4">
                  <c:v>9</c:v>
                </c:pt>
                <c:pt idx="5">
                  <c:v>8</c:v>
                </c:pt>
              </c:numCache>
            </c:numRef>
          </c:val>
        </c:ser>
        <c:dLbls>
          <c:numFmt formatCode="#,##0" sourceLinked="0"/>
          <c:txPr>
            <a:bodyPr/>
            <a:lstStyle/>
            <a:p>
              <a:pPr>
                <a:defRPr b="0" i="0" strike="noStrike" sz="900" u="none">
                  <a:solidFill>
                    <a:srgbClr val="3B3F4C"/>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3B3F4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3E6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3B3F4C"/>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E2761"/>
                </a:solidFill>
                <a:latin typeface="Calibri"/>
              </a:defRPr>
            </a:pPr>
            <a:r>
              <a:rPr sz="1200" b="0" i="0" u="none" strike="noStrike">
                <a:solidFill>
                  <a:srgbClr val="1E2761"/>
                </a:solidFill>
                <a:latin typeface="Calibri"/>
              </a:rPr>
              <a:t>Job Satisfaction Split (illustrative)</a:t>
            </a:r>
          </a:p>
        </c:rich>
      </c:tx>
      <c:layout/>
      <c:overlay val="0"/>
    </c:title>
    <c:autoTitleDeleted val="0"/>
    <c:plotArea>
      <c:layout/>
      <c:doughnutChart>
        <c:varyColors val="1"/>
        <c:ser>
          <c:idx val="0"/>
          <c:order val="0"/>
          <c:tx>
            <c:strRef>
              <c:f>Sheet1!$B$1</c:f>
              <c:strCache>
                <c:ptCount val="1"/>
                <c:pt idx="0">
                  <c:v>Job Satisfaction</c:v>
                </c:pt>
              </c:strCache>
            </c:strRef>
          </c:tx>
          <c:spPr>
            <a:solidFill>
              <a:schemeClr val="accent1"/>
            </a:solidFill>
            <a:ln w="9525" cap="flat">
              <a:solidFill>
                <a:srgbClr val="F9F9F9"/>
              </a:solidFill>
              <a:prstDash val="solid"/>
              <a:round/>
            </a:ln>
            <a:effectLst/>
          </c:spPr>
          <c:dPt>
            <c:idx val="0"/>
            <c:bubble3D val="0"/>
            <c:spPr>
              <a:solidFill>
                <a:srgbClr val="1E2761"/>
              </a:solidFill>
              <a:effectLst/>
            </c:spPr>
          </c:dPt>
          <c:dPt>
            <c:idx val="1"/>
            <c:bubble3D val="0"/>
            <c:spPr>
              <a:solidFill>
                <a:srgbClr val="E8871E"/>
              </a:solidFill>
              <a:effectLst/>
            </c:spPr>
          </c:dPt>
          <c:dPt>
            <c:idx val="2"/>
            <c:bubble3D val="0"/>
            <c:spPr>
              <a:solidFill>
                <a:srgbClr val="C0392B"/>
              </a:solidFill>
              <a:effectLst/>
            </c:spPr>
          </c:dPt>
          <c:dLbls>
            <c:dLbl>
              <c:idx val="0"/>
              <c:numFmt formatCode="General" sourceLinked="0"/>
              <c:spPr/>
              <c:txPr>
                <a:bodyPr/>
                <a:lstStyle/>
                <a:p>
                  <a:pPr>
                    <a:defRPr sz="1000" b="0" i="0" u="none" strike="noStrike">
                      <a:solidFill>
                        <a:srgbClr val="FFFFFF"/>
                      </a:solidFill>
                      <a:latin typeface="Arial"/>
                    </a:defRPr>
                  </a:pPr>
                </a:p>
              </c:txPr>
              <c:showLegendKey val="0"/>
              <c:showVal val="1"/>
              <c:showCatName val="0"/>
              <c:showSerName val="0"/>
              <c:showPercent val="0"/>
              <c:showBubbleSize val="0"/>
            </c:dLbl>
            <c:dLbl>
              <c:idx val="1"/>
              <c:numFmt formatCode="General" sourceLinked="0"/>
              <c:spPr/>
              <c:txPr>
                <a:bodyPr/>
                <a:lstStyle/>
                <a:p>
                  <a:pPr>
                    <a:defRPr sz="1000" b="0" i="0" u="none" strike="noStrike">
                      <a:solidFill>
                        <a:srgbClr val="FFFFFF"/>
                      </a:solidFill>
                      <a:latin typeface="Arial"/>
                    </a:defRPr>
                  </a:pPr>
                </a:p>
              </c:txPr>
              <c:showLegendKey val="0"/>
              <c:showVal val="1"/>
              <c:showCatName val="0"/>
              <c:showSerName val="0"/>
              <c:showPercent val="0"/>
              <c:showBubbleSize val="0"/>
            </c:dLbl>
            <c:dLbl>
              <c:idx val="2"/>
              <c:numFmt formatCode="General" sourceLinked="0"/>
              <c:spPr/>
              <c:txPr>
                <a:bodyPr/>
                <a:lstStyle/>
                <a:p>
                  <a:pPr>
                    <a:defRPr sz="1000" b="0" i="0" u="none" strike="noStrike">
                      <a:solidFill>
                        <a:srgbClr val="FFFFFF"/>
                      </a:solidFill>
                      <a:latin typeface="Arial"/>
                    </a:defRPr>
                  </a:pPr>
                </a:p>
              </c:txPr>
              <c:showLegendKey val="0"/>
              <c:showVal val="1"/>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High</c:v>
                </c:pt>
                <c:pt idx="1">
                  <c:v>Medium</c:v>
                </c:pt>
                <c:pt idx="2">
                  <c:v>Low</c:v>
                </c:pt>
              </c:strCache>
            </c:strRef>
          </c:cat>
          <c:val>
            <c:numRef>
              <c:f>Sheet1!$B$2:$B$4</c:f>
              <c:numCache>
                <c:ptCount val="3"/>
                <c:pt idx="0">
                  <c:v>52</c:v>
                </c:pt>
                <c:pt idx="1">
                  <c:v>33</c:v>
                </c:pt>
                <c:pt idx="2">
                  <c:v>15</c:v>
                </c:pt>
              </c:numCache>
            </c:numRef>
          </c:val>
        </c:ser>
        <c:firstSliceAng val="0"/>
        <c:holeSize val="50"/>
      </c:doughnutChart>
      <c:spPr>
        <a:noFill/>
        <a:ln>
          <a:noFill/>
        </a:ln>
        <a:effectLst/>
      </c:spPr>
    </c:plotArea>
    <c:legend>
      <c:legendPos val="r"/>
      <c:overlay val="0"/>
      <c:txPr>
        <a:bodyPr/>
        <a:lstStyle/>
        <a:p>
          <a:pPr>
            <a:defRPr sz="1000">
              <a:solidFill>
                <a:srgbClr val="3B3F4C"/>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E2761"/>
                </a:solidFill>
                <a:latin typeface="Calibri"/>
              </a:defRPr>
            </a:pPr>
            <a:r>
              <a:rPr sz="1300" b="0" i="0" u="none" strike="noStrike">
                <a:solidFill>
                  <a:srgbClr val="1E2761"/>
                </a:solidFill>
                <a:latin typeface="Calibri"/>
              </a:rPr>
              <a:t>Attrition Rate by Years at Company (illustrative)</a:t>
            </a:r>
          </a:p>
        </c:rich>
      </c:tx>
      <c:layout/>
      <c:overlay val="0"/>
    </c:title>
    <c:autoTitleDeleted val="0"/>
    <c:plotArea>
      <c:layout/>
      <c:lineChart>
        <c:varyColors val="0"/>
        <c:ser>
          <c:idx val="0"/>
          <c:order val="0"/>
          <c:tx>
            <c:strRef>
              <c:f>Sheet1!$B$1</c:f>
              <c:strCache>
                <c:ptCount val="1"/>
                <c:pt idx="0">
                  <c:v>Attrition Rate (%)</c:v>
                </c:pt>
              </c:strCache>
            </c:strRef>
          </c:tx>
          <c:spPr>
            <a:solidFill>
              <a:srgbClr val="E8871E"/>
            </a:solidFill>
            <a:ln w="38100" cap="flat">
              <a:solidFill>
                <a:srgbClr val="E8871E"/>
              </a:solidFill>
              <a:prstDash val="solid"/>
              <a:round/>
            </a:ln>
            <a:effectLst/>
          </c:spPr>
          <c:invertIfNegative val="0"/>
          <c:dLbls>
            <c:numFmt formatCode="#,##0" sourceLinked="0"/>
            <c:txPr>
              <a:bodyPr/>
              <a:lstStyle/>
              <a:p>
                <a:pPr>
                  <a:defRPr b="0" i="0" strike="noStrike" sz="1000" u="none">
                    <a:solidFill>
                      <a:srgbClr val="1E2761"/>
                    </a:solidFill>
                    <a:latin typeface="Arial"/>
                  </a:defRPr>
                </a:pPr>
              </a:p>
            </c:txPr>
            <c:dLblPos val="t"/>
            <c:showLegendKey val="0"/>
            <c:showVal val="1"/>
            <c:showCatName val="0"/>
            <c:showSerName val="0"/>
            <c:showPercent val="0"/>
            <c:showBubbleSize val="0"/>
            <c:showLeaderLines val="0"/>
          </c:dLbls>
          <c:marker>
            <c:symbol val="circle"/>
            <c:size val="7"/>
            <c:spPr>
              <a:solidFill>
                <a:srgbClr val="E8871E"/>
              </a:solidFill>
              <a:ln w="9525" cap="flat">
                <a:solidFill>
                  <a:srgbClr val="E8871E"/>
                </a:solidFill>
                <a:prstDash val="solid"/>
                <a:round/>
              </a:ln>
              <a:effectLst/>
            </c:spPr>
          </c:marker>
          <c:cat>
            <c:multiLvlStrRef>
              <c:f>Sheet1!$A$2:$A$7</c:f>
              <c:multiLvlStrCache>
                <c:ptCount val="6"/>
                <c:lvl>
                  <c:pt idx="0">
                    <c:v>0-1 yr</c:v>
                  </c:pt>
                  <c:pt idx="1">
                    <c:v>1-2 yrs</c:v>
                  </c:pt>
                  <c:pt idx="2">
                    <c:v>2-3 yrs</c:v>
                  </c:pt>
                  <c:pt idx="3">
                    <c:v>3-5 yrs</c:v>
                  </c:pt>
                  <c:pt idx="4">
                    <c:v>5-10 yrs</c:v>
                  </c:pt>
                  <c:pt idx="5">
                    <c:v>10+ yrs</c:v>
                  </c:pt>
                </c:lvl>
              </c:multiLvlStrCache>
            </c:multiLvlStrRef>
          </c:cat>
          <c:val>
            <c:numRef>
              <c:f>Sheet1!$B$2:$B$7</c:f>
              <c:numCache>
                <c:formatCode>General</c:formatCode>
                <c:ptCount val="6"/>
                <c:pt idx="0">
                  <c:v>28</c:v>
                </c:pt>
                <c:pt idx="1">
                  <c:v>22</c:v>
                </c:pt>
                <c:pt idx="2">
                  <c:v>15</c:v>
                </c:pt>
                <c:pt idx="3">
                  <c:v>11</c:v>
                </c:pt>
                <c:pt idx="4">
                  <c:v>7</c:v>
                </c:pt>
                <c:pt idx="5">
                  <c:v>5</c:v>
                </c:pt>
              </c:numCache>
            </c:numRef>
          </c:val>
          <c:smooth val="0"/>
        </c:ser>
        <c:dLbls>
          <c:numFmt formatCode="#,##0" sourceLinked="0"/>
          <c:txPr>
            <a:bodyPr/>
            <a:lstStyle/>
            <a:p>
              <a:pPr>
                <a:defRPr b="0" i="0" strike="noStrike" sz="1000" u="none">
                  <a:solidFill>
                    <a:srgbClr val="1E2761"/>
                  </a:solidFill>
                  <a:latin typeface="Arial"/>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B3F4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DEE2E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3B3F4C"/>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E2761"/>
                </a:solidFill>
                <a:latin typeface="Calibri"/>
              </a:defRPr>
            </a:pPr>
            <a:r>
              <a:rPr sz="1300" b="0" i="0" u="none" strike="noStrike">
                <a:solidFill>
                  <a:srgbClr val="1E2761"/>
                </a:solidFill>
                <a:latin typeface="Calibri"/>
              </a:rPr>
              <a:t>Common Causes (illustrative)</a:t>
            </a:r>
          </a:p>
        </c:rich>
      </c:tx>
      <c:layout/>
      <c:overlay val="0"/>
    </c:title>
    <c:autoTitleDeleted val="0"/>
    <c:plotArea>
      <c:layout/>
      <c:barChart>
        <c:barDir val="bar"/>
        <c:grouping val="clustered"/>
        <c:varyColors val="0"/>
        <c:ser>
          <c:idx val="0"/>
          <c:order val="0"/>
          <c:tx>
            <c:strRef>
              <c:f>Sheet1!$B$1</c:f>
              <c:strCache>
                <c:ptCount val="1"/>
                <c:pt idx="0">
                  <c:v>Share of Cases (%)</c:v>
                </c:pt>
              </c:strCache>
            </c:strRef>
          </c:tx>
          <c:spPr>
            <a:solidFill>
              <a:srgbClr val="1E2761"/>
            </a:solidFill>
            <a:effectLst/>
          </c:spPr>
          <c:invertIfNegative val="0"/>
          <c:dLbls>
            <c:numFmt formatCode="#,##0" sourceLinked="0"/>
            <c:txPr>
              <a:bodyPr/>
              <a:lstStyle/>
              <a:p>
                <a:pPr>
                  <a:defRPr b="0" i="0" strike="noStrike" sz="950" u="none">
                    <a:solidFill>
                      <a:srgbClr val="3B3F4C"/>
                    </a:solidFill>
                    <a:latin typeface="Arial"/>
                  </a:defRPr>
                </a:pPr>
              </a:p>
            </c:txPr>
            <c:showLegendKey val="0"/>
            <c:showVal val="1"/>
            <c:showCatName val="0"/>
            <c:showSerName val="0"/>
            <c:showPercent val="0"/>
            <c:showBubbleSize val="0"/>
            <c:showLeaderLines val="0"/>
          </c:dLbls>
          <c:cat>
            <c:multiLvlStrRef>
              <c:f>Sheet1!$A$2:$A$7</c:f>
              <c:multiLvlStrCache>
                <c:ptCount val="6"/>
                <c:lvl>
                  <c:pt idx="0">
                    <c:v>Low Salary</c:v>
                  </c:pt>
                  <c:pt idx="1">
                    <c:v>Work-Life Balance</c:v>
                  </c:pt>
                  <c:pt idx="2">
                    <c:v>Career Growth</c:v>
                  </c:pt>
                  <c:pt idx="3">
                    <c:v>Manager Issues</c:v>
                  </c:pt>
                  <c:pt idx="4">
                    <c:v>Commute Distance</c:v>
                  </c:pt>
                  <c:pt idx="5">
                    <c:v>Role Mismatch</c:v>
                  </c:pt>
                </c:lvl>
              </c:multiLvlStrCache>
            </c:multiLvlStrRef>
          </c:cat>
          <c:val>
            <c:numRef>
              <c:f>Sheet1!$B$2:$B$7</c:f>
              <c:numCache>
                <c:formatCode>General</c:formatCode>
                <c:ptCount val="6"/>
                <c:pt idx="0">
                  <c:v>27</c:v>
                </c:pt>
                <c:pt idx="1">
                  <c:v>21</c:v>
                </c:pt>
                <c:pt idx="2">
                  <c:v>18</c:v>
                </c:pt>
                <c:pt idx="3">
                  <c:v>14</c:v>
                </c:pt>
                <c:pt idx="4">
                  <c:v>12</c:v>
                </c:pt>
                <c:pt idx="5">
                  <c:v>8</c:v>
                </c:pt>
              </c:numCache>
            </c:numRef>
          </c:val>
        </c:ser>
        <c:dLbls>
          <c:numFmt formatCode="#,##0" sourceLinked="0"/>
          <c:txPr>
            <a:bodyPr/>
            <a:lstStyle/>
            <a:p>
              <a:pPr>
                <a:defRPr b="0" i="0" strike="noStrike" sz="950" u="none">
                  <a:solidFill>
                    <a:srgbClr val="3B3F4C"/>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3B3F4C"/>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9525" cap="flat">
              <a:solidFill>
                <a:srgbClr val="E3E6EE"/>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3B3F4C"/>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E2761"/>
                </a:solidFill>
                <a:latin typeface="Calibri"/>
              </a:defRPr>
            </a:pPr>
            <a:r>
              <a:rPr sz="1300" b="0" i="0" u="none" strike="noStrike">
                <a:solidFill>
                  <a:srgbClr val="1E2761"/>
                </a:solidFill>
                <a:latin typeface="Calibri"/>
              </a:rPr>
              <a:t>Attrition Breakdown (illustrative)</a:t>
            </a:r>
          </a:p>
        </c:rich>
      </c:tx>
      <c:layout/>
      <c:overlay val="0"/>
    </c:title>
    <c:autoTitleDeleted val="0"/>
    <c:plotArea>
      <c:layout/>
      <c:pieChart>
        <c:varyColors val="1"/>
        <c:ser>
          <c:idx val="0"/>
          <c:order val="0"/>
          <c:tx>
            <c:strRef>
              <c:f>Sheet1!$B$1</c:f>
              <c:strCache>
                <c:ptCount val="1"/>
                <c:pt idx="0">
                  <c:v>Attrition</c:v>
                </c:pt>
              </c:strCache>
            </c:strRef>
          </c:tx>
          <c:spPr>
            <a:solidFill>
              <a:schemeClr val="accent1"/>
            </a:solidFill>
            <a:ln w="9525" cap="flat">
              <a:solidFill>
                <a:srgbClr val="F9F9F9"/>
              </a:solidFill>
              <a:prstDash val="solid"/>
              <a:round/>
            </a:ln>
            <a:effectLst/>
          </c:spPr>
          <c:dPt>
            <c:idx val="0"/>
            <c:bubble3D val="0"/>
            <c:spPr>
              <a:solidFill>
                <a:srgbClr val="C0392B"/>
              </a:solidFill>
              <a:effectLst/>
            </c:spPr>
          </c:dPt>
          <c:dPt>
            <c:idx val="1"/>
            <c:bubble3D val="0"/>
            <c:spPr>
              <a:solidFill>
                <a:srgbClr val="1E2761"/>
              </a:solidFill>
              <a:effectLst/>
            </c:spPr>
          </c:dPt>
          <c:dLbls>
            <c:dLbl>
              <c:idx val="0"/>
              <c:numFmt formatCode="General" sourceLinked="0"/>
              <c:spPr/>
              <c:txPr>
                <a:bodyPr/>
                <a:lstStyle/>
                <a:p>
                  <a:pPr>
                    <a:defRPr sz="1100" b="0" i="0" u="none" strike="noStrike">
                      <a:solidFill>
                        <a:srgbClr val="FFFFFF"/>
                      </a:solidFill>
                      <a:latin typeface="Arial"/>
                    </a:defRPr>
                  </a:pPr>
                </a:p>
              </c:txPr>
              <c:showLegendKey val="0"/>
              <c:showVal val="1"/>
              <c:showCatName val="0"/>
              <c:showSerName val="0"/>
              <c:showPercent val="0"/>
              <c:showBubbleSize val="0"/>
            </c:dLbl>
            <c:dLbl>
              <c:idx val="1"/>
              <c:numFmt formatCode="General" sourceLinked="0"/>
              <c:spPr/>
              <c:txPr>
                <a:bodyPr/>
                <a:lstStyle/>
                <a:p>
                  <a:pPr>
                    <a:defRPr sz="1100" b="0" i="0" u="none" strike="noStrike">
                      <a:solidFill>
                        <a:srgbClr val="FFFFFF"/>
                      </a:solidFill>
                      <a:latin typeface="Arial"/>
                    </a:defRPr>
                  </a:pPr>
                </a:p>
              </c:txPr>
              <c:showLegendKey val="0"/>
              <c:showVal val="1"/>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Sheet1!$A$2:$A$3</c:f>
              <c:strCache>
                <c:ptCount val="2"/>
                <c:pt idx="0">
                  <c:v>Attrition: Yes</c:v>
                </c:pt>
                <c:pt idx="1">
                  <c:v>Attrition: No</c:v>
                </c:pt>
              </c:strCache>
            </c:strRef>
          </c:cat>
          <c:val>
            <c:numRef>
              <c:f>Sheet1!$B$2:$B$3</c:f>
              <c:numCache>
                <c:ptCount val="2"/>
                <c:pt idx="0">
                  <c:v>16</c:v>
                </c:pt>
                <c:pt idx="1">
                  <c:v>84</c:v>
                </c:pt>
              </c:numCache>
            </c:numRef>
          </c:val>
        </c:ser>
        <c:firstSliceAng val="0"/>
      </c:pieChart>
      <c:spPr>
        <a:noFill/>
        <a:ln>
          <a:noFill/>
        </a:ln>
        <a:effectLst/>
      </c:spPr>
    </c:plotArea>
    <c:legend>
      <c:legendPos val="b"/>
      <c:overlay val="0"/>
      <c:txPr>
        <a:bodyPr/>
        <a:lstStyle/>
        <a:p>
          <a:pPr>
            <a:defRPr sz="1050">
              <a:solidFill>
                <a:srgbClr val="3B3F4C"/>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chart" Target="/ppt/charts/chart5.xml"/><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4D"/>
        </a:solidFill>
      </p:bgPr>
    </p:bg>
    <p:spTree>
      <p:nvGrpSpPr>
        <p:cNvPr id="1" name=""/>
        <p:cNvGrpSpPr/>
        <p:nvPr/>
      </p:nvGrpSpPr>
      <p:grpSpPr>
        <a:xfrm>
          <a:off x="0" y="0"/>
          <a:ext cx="0" cy="0"/>
          <a:chOff x="0" y="0"/>
          <a:chExt cx="0" cy="0"/>
        </a:xfrm>
      </p:grpSpPr>
      <p:sp>
        <p:nvSpPr>
          <p:cNvPr id="2" name="Shape 0"/>
          <p:cNvSpPr/>
          <p:nvPr/>
        </p:nvSpPr>
        <p:spPr>
          <a:xfrm>
            <a:off x="9418320" y="-1463040"/>
            <a:ext cx="5029200" cy="5029200"/>
          </a:xfrm>
          <a:prstGeom prst="ellipse">
            <a:avLst/>
          </a:prstGeom>
          <a:solidFill>
            <a:srgbClr val="1E2761">
              <a:alpha val="60000"/>
            </a:srgbClr>
          </a:solidFill>
          <a:ln/>
        </p:spPr>
      </p:sp>
      <p:sp>
        <p:nvSpPr>
          <p:cNvPr id="3" name="Shape 1"/>
          <p:cNvSpPr/>
          <p:nvPr/>
        </p:nvSpPr>
        <p:spPr>
          <a:xfrm>
            <a:off x="-1645920" y="4389120"/>
            <a:ext cx="4206240" cy="4206240"/>
          </a:xfrm>
          <a:prstGeom prst="ellipse">
            <a:avLst/>
          </a:prstGeom>
          <a:solidFill>
            <a:srgbClr val="1E2761">
              <a:alpha val="60000"/>
            </a:srgbClr>
          </a:solidFill>
          <a:ln/>
        </p:spPr>
      </p:sp>
      <p:sp>
        <p:nvSpPr>
          <p:cNvPr id="4" name="Shape 2"/>
          <p:cNvSpPr/>
          <p:nvPr/>
        </p:nvSpPr>
        <p:spPr>
          <a:xfrm>
            <a:off x="10607040" y="5120640"/>
            <a:ext cx="2377440" cy="2377440"/>
          </a:xfrm>
          <a:prstGeom prst="ellipse">
            <a:avLst/>
          </a:prstGeom>
          <a:solidFill>
            <a:srgbClr val="E8871E">
              <a:alpha val="30000"/>
            </a:srgbClr>
          </a:solidFill>
          <a:ln/>
        </p:spPr>
      </p:sp>
      <p:sp>
        <p:nvSpPr>
          <p:cNvPr id="5" name="Text 3"/>
          <p:cNvSpPr txBox="1"/>
          <p:nvPr/>
        </p:nvSpPr>
        <p:spPr>
          <a:xfrm>
            <a:off x="822960" y="1234440"/>
            <a:ext cx="10515600" cy="1463040"/>
          </a:xfrm>
          <a:prstGeom prst="rect">
            <a:avLst/>
          </a:prstGeom>
          <a:noFill/>
          <a:ln/>
        </p:spPr>
        <p:txBody>
          <a:bodyPr wrap="square" rtlCol="0" anchor="ctr"/>
          <a:lstStyle/>
          <a:p>
            <a:pPr algn="l" indent="0" marL="0">
              <a:lnSpc>
                <a:spcPts val="4000"/>
              </a:lnSpc>
              <a:buNone/>
            </a:pPr>
            <a:r>
              <a:rPr lang="en-US" sz="3400" b="1" dirty="0">
                <a:solidFill>
                  <a:srgbClr val="FFFFFF"/>
                </a:solidFill>
                <a:latin typeface="Cambria" pitchFamily="34" charset="0"/>
                <a:ea typeface="Cambria" pitchFamily="34" charset="-122"/>
                <a:cs typeface="Cambria" pitchFamily="34" charset="-120"/>
              </a:rPr>
              <a:t>EMPLOYEE ATTRITION ANALYSIS</a:t>
            </a:r>
            <a:endParaRPr lang="en-US" sz="3400" dirty="0"/>
          </a:p>
          <a:p>
            <a:pPr algn="l" indent="0" marL="0">
              <a:lnSpc>
                <a:spcPts val="4000"/>
              </a:lnSpc>
              <a:buNone/>
            </a:pPr>
            <a:r>
              <a:rPr lang="en-US" sz="3400" b="1" dirty="0">
                <a:solidFill>
                  <a:srgbClr val="FFFFFF"/>
                </a:solidFill>
                <a:latin typeface="Cambria" pitchFamily="34" charset="0"/>
                <a:ea typeface="Cambria" pitchFamily="34" charset="-122"/>
                <a:cs typeface="Cambria" pitchFamily="34" charset="-120"/>
              </a:rPr>
              <a:t>USING HR ANALYTICS DATA</a:t>
            </a:r>
            <a:endParaRPr lang="en-US" sz="3400" dirty="0"/>
          </a:p>
        </p:txBody>
      </p:sp>
      <p:sp>
        <p:nvSpPr>
          <p:cNvPr id="6" name="Text 4"/>
          <p:cNvSpPr txBox="1"/>
          <p:nvPr/>
        </p:nvSpPr>
        <p:spPr>
          <a:xfrm>
            <a:off x="822960" y="2606040"/>
            <a:ext cx="9601200" cy="457200"/>
          </a:xfrm>
          <a:prstGeom prst="rect">
            <a:avLst/>
          </a:prstGeom>
          <a:noFill/>
          <a:ln/>
        </p:spPr>
        <p:txBody>
          <a:bodyPr wrap="square" rtlCol="0" anchor="ctr"/>
          <a:lstStyle/>
          <a:p>
            <a:pPr indent="0" marL="0">
              <a:buNone/>
            </a:pPr>
            <a:r>
              <a:rPr lang="en-US" sz="1600" i="1" dirty="0">
                <a:solidFill>
                  <a:srgbClr val="CADCFC"/>
                </a:solidFill>
                <a:latin typeface="Calibri" pitchFamily="34" charset="0"/>
                <a:ea typeface="Calibri" pitchFamily="34" charset="-122"/>
                <a:cs typeface="Calibri" pitchFamily="34" charset="-120"/>
              </a:rPr>
              <a:t>Data Analysis and Visualization for Workforce Retention</a:t>
            </a:r>
            <a:endParaRPr lang="en-US" sz="1600" dirty="0"/>
          </a:p>
        </p:txBody>
      </p:sp>
      <p:sp>
        <p:nvSpPr>
          <p:cNvPr id="7" name="Text 5"/>
          <p:cNvSpPr txBox="1"/>
          <p:nvPr/>
        </p:nvSpPr>
        <p:spPr>
          <a:xfrm>
            <a:off x="822960" y="3429000"/>
            <a:ext cx="10241280" cy="384048"/>
          </a:xfrm>
          <a:prstGeom prst="rect">
            <a:avLst/>
          </a:prstGeom>
          <a:noFill/>
          <a:ln/>
        </p:spPr>
        <p:txBody>
          <a:bodyPr wrap="square" lIns="0" tIns="0" rIns="0" bIns="0" rtlCol="0" anchor="ctr"/>
          <a:lstStyle/>
          <a:p>
            <a:pPr indent="0" marL="0">
              <a:buNone/>
            </a:pPr>
            <a:r>
              <a:rPr lang="en-US" sz="1400" b="1" dirty="0">
                <a:solidFill>
                  <a:srgbClr val="CADCFC"/>
                </a:solidFill>
                <a:latin typeface="Calibri" pitchFamily="34" charset="0"/>
                <a:ea typeface="Calibri" pitchFamily="34" charset="-122"/>
                <a:cs typeface="Calibri" pitchFamily="34" charset="-120"/>
              </a:rPr>
              <a:t>TEAM MEMBER NAME 1  </a:t>
            </a:r>
            <a:pPr indent="0" marL="0">
              <a:buNone/>
            </a:pPr>
            <a:r>
              <a:rPr lang="en-US" sz="1400" dirty="0">
                <a:solidFill>
                  <a:srgbClr val="FFFFFF"/>
                </a:solidFill>
                <a:latin typeface="Calibri" pitchFamily="34" charset="0"/>
                <a:ea typeface="Calibri" pitchFamily="34" charset="-122"/>
                <a:cs typeface="Calibri" pitchFamily="34" charset="-120"/>
              </a:rPr>
              <a:t> :  Thrisha S (814725243178)</a:t>
            </a:r>
            <a:endParaRPr lang="en-US" sz="1400" dirty="0"/>
          </a:p>
        </p:txBody>
      </p:sp>
      <p:sp>
        <p:nvSpPr>
          <p:cNvPr id="8" name="Text 6"/>
          <p:cNvSpPr txBox="1"/>
          <p:nvPr/>
        </p:nvSpPr>
        <p:spPr>
          <a:xfrm>
            <a:off x="822960" y="3831336"/>
            <a:ext cx="10241280" cy="384048"/>
          </a:xfrm>
          <a:prstGeom prst="rect">
            <a:avLst/>
          </a:prstGeom>
          <a:noFill/>
          <a:ln/>
        </p:spPr>
        <p:txBody>
          <a:bodyPr wrap="square" lIns="0" tIns="0" rIns="0" bIns="0" rtlCol="0" anchor="ctr"/>
          <a:lstStyle/>
          <a:p>
            <a:pPr indent="0" marL="0">
              <a:buNone/>
            </a:pPr>
            <a:r>
              <a:rPr lang="en-US" sz="1400" b="1" dirty="0">
                <a:solidFill>
                  <a:srgbClr val="CADCFC"/>
                </a:solidFill>
                <a:latin typeface="Calibri" pitchFamily="34" charset="0"/>
                <a:ea typeface="Calibri" pitchFamily="34" charset="-122"/>
                <a:cs typeface="Calibri" pitchFamily="34" charset="-120"/>
              </a:rPr>
              <a:t>TEAM MEMBER NAME 2  </a:t>
            </a:r>
            <a:pPr indent="0" marL="0">
              <a:buNone/>
            </a:pPr>
            <a:r>
              <a:rPr lang="en-US" sz="1400" dirty="0">
                <a:solidFill>
                  <a:srgbClr val="FFFFFF"/>
                </a:solidFill>
                <a:latin typeface="Calibri" pitchFamily="34" charset="0"/>
                <a:ea typeface="Calibri" pitchFamily="34" charset="-122"/>
                <a:cs typeface="Calibri" pitchFamily="34" charset="-120"/>
              </a:rPr>
              <a:t> :  Sri Sreya M (814725243166)</a:t>
            </a:r>
            <a:endParaRPr lang="en-US" sz="1400" dirty="0"/>
          </a:p>
        </p:txBody>
      </p:sp>
      <p:sp>
        <p:nvSpPr>
          <p:cNvPr id="9" name="Text 7"/>
          <p:cNvSpPr txBox="1"/>
          <p:nvPr/>
        </p:nvSpPr>
        <p:spPr>
          <a:xfrm>
            <a:off x="822960" y="4233672"/>
            <a:ext cx="10241280" cy="384048"/>
          </a:xfrm>
          <a:prstGeom prst="rect">
            <a:avLst/>
          </a:prstGeom>
          <a:noFill/>
          <a:ln/>
        </p:spPr>
        <p:txBody>
          <a:bodyPr wrap="square" lIns="0" tIns="0" rIns="0" bIns="0" rtlCol="0" anchor="ctr"/>
          <a:lstStyle/>
          <a:p>
            <a:pPr indent="0" marL="0">
              <a:buNone/>
            </a:pPr>
            <a:r>
              <a:rPr lang="en-US" sz="1400" b="1" dirty="0">
                <a:solidFill>
                  <a:srgbClr val="CADCFC"/>
                </a:solidFill>
                <a:latin typeface="Calibri" pitchFamily="34" charset="0"/>
                <a:ea typeface="Calibri" pitchFamily="34" charset="-122"/>
                <a:cs typeface="Calibri" pitchFamily="34" charset="-120"/>
              </a:rPr>
              <a:t>DEPARTMENT          </a:t>
            </a:r>
            <a:pPr indent="0" marL="0">
              <a:buNone/>
            </a:pPr>
            <a:r>
              <a:rPr lang="en-US" sz="1400" dirty="0">
                <a:solidFill>
                  <a:srgbClr val="FFFFFF"/>
                </a:solidFill>
                <a:latin typeface="Calibri" pitchFamily="34" charset="0"/>
                <a:ea typeface="Calibri" pitchFamily="34" charset="-122"/>
                <a:cs typeface="Calibri" pitchFamily="34" charset="-120"/>
              </a:rPr>
              <a:t> :  Artificial Intelligence and Data Science</a:t>
            </a:r>
            <a:endParaRPr lang="en-US" sz="1400" dirty="0"/>
          </a:p>
        </p:txBody>
      </p:sp>
      <p:sp>
        <p:nvSpPr>
          <p:cNvPr id="10" name="Text 8"/>
          <p:cNvSpPr txBox="1"/>
          <p:nvPr/>
        </p:nvSpPr>
        <p:spPr>
          <a:xfrm>
            <a:off x="822960" y="4636008"/>
            <a:ext cx="10241280" cy="384048"/>
          </a:xfrm>
          <a:prstGeom prst="rect">
            <a:avLst/>
          </a:prstGeom>
          <a:noFill/>
          <a:ln/>
        </p:spPr>
        <p:txBody>
          <a:bodyPr wrap="square" lIns="0" tIns="0" rIns="0" bIns="0" rtlCol="0" anchor="ctr"/>
          <a:lstStyle/>
          <a:p>
            <a:pPr indent="0" marL="0">
              <a:buNone/>
            </a:pPr>
            <a:r>
              <a:rPr lang="en-US" sz="1400" b="1" dirty="0">
                <a:solidFill>
                  <a:srgbClr val="CADCFC"/>
                </a:solidFill>
                <a:latin typeface="Calibri" pitchFamily="34" charset="0"/>
                <a:ea typeface="Calibri" pitchFamily="34" charset="-122"/>
                <a:cs typeface="Calibri" pitchFamily="34" charset="-120"/>
              </a:rPr>
              <a:t>SUBJECT             </a:t>
            </a:r>
            <a:pPr indent="0" marL="0">
              <a:buNone/>
            </a:pPr>
            <a:r>
              <a:rPr lang="en-US" sz="1400" dirty="0">
                <a:solidFill>
                  <a:srgbClr val="FFFFFF"/>
                </a:solidFill>
                <a:latin typeface="Calibri" pitchFamily="34" charset="0"/>
                <a:ea typeface="Calibri" pitchFamily="34" charset="-122"/>
                <a:cs typeface="Calibri" pitchFamily="34" charset="-120"/>
              </a:rPr>
              <a:t> :  Exploratory Data Analysis</a:t>
            </a:r>
            <a:endParaRPr lang="en-US" sz="1400" dirty="0"/>
          </a:p>
        </p:txBody>
      </p:sp>
      <p:sp>
        <p:nvSpPr>
          <p:cNvPr id="11" name="Text 9"/>
          <p:cNvSpPr txBox="1"/>
          <p:nvPr/>
        </p:nvSpPr>
        <p:spPr>
          <a:xfrm>
            <a:off x="822960" y="5038344"/>
            <a:ext cx="10241280" cy="384048"/>
          </a:xfrm>
          <a:prstGeom prst="rect">
            <a:avLst/>
          </a:prstGeom>
          <a:noFill/>
          <a:ln/>
        </p:spPr>
        <p:txBody>
          <a:bodyPr wrap="square" lIns="0" tIns="0" rIns="0" bIns="0" rtlCol="0" anchor="ctr"/>
          <a:lstStyle/>
          <a:p>
            <a:pPr indent="0" marL="0">
              <a:buNone/>
            </a:pPr>
            <a:r>
              <a:rPr lang="en-US" sz="1400" b="1" dirty="0">
                <a:solidFill>
                  <a:srgbClr val="CADCFC"/>
                </a:solidFill>
                <a:latin typeface="Calibri" pitchFamily="34" charset="0"/>
                <a:ea typeface="Calibri" pitchFamily="34" charset="-122"/>
                <a:cs typeface="Calibri" pitchFamily="34" charset="-120"/>
              </a:rPr>
              <a:t>SUBJECT CODE        </a:t>
            </a:r>
            <a:pPr indent="0" marL="0">
              <a:buNone/>
            </a:pPr>
            <a:r>
              <a:rPr lang="en-US" sz="1400" dirty="0">
                <a:solidFill>
                  <a:srgbClr val="FFFFFF"/>
                </a:solidFill>
                <a:latin typeface="Calibri" pitchFamily="34" charset="0"/>
                <a:ea typeface="Calibri" pitchFamily="34" charset="-122"/>
                <a:cs typeface="Calibri" pitchFamily="34" charset="-120"/>
              </a:rPr>
              <a:t> :  AD25C01</a:t>
            </a:r>
            <a:endParaRPr lang="en-US" sz="1400" dirty="0"/>
          </a:p>
        </p:txBody>
      </p:sp>
      <p:sp>
        <p:nvSpPr>
          <p:cNvPr id="12" name="Text 10"/>
          <p:cNvSpPr txBox="1"/>
          <p:nvPr/>
        </p:nvSpPr>
        <p:spPr>
          <a:xfrm>
            <a:off x="822960" y="5440680"/>
            <a:ext cx="10241280" cy="384048"/>
          </a:xfrm>
          <a:prstGeom prst="rect">
            <a:avLst/>
          </a:prstGeom>
          <a:noFill/>
          <a:ln/>
        </p:spPr>
        <p:txBody>
          <a:bodyPr wrap="square" lIns="0" tIns="0" rIns="0" bIns="0" rtlCol="0" anchor="ctr"/>
          <a:lstStyle/>
          <a:p>
            <a:pPr indent="0" marL="0">
              <a:buNone/>
            </a:pPr>
            <a:r>
              <a:rPr lang="en-US" sz="1400" b="1" dirty="0">
                <a:solidFill>
                  <a:srgbClr val="CADCFC"/>
                </a:solidFill>
                <a:latin typeface="Calibri" pitchFamily="34" charset="0"/>
                <a:ea typeface="Calibri" pitchFamily="34" charset="-122"/>
                <a:cs typeface="Calibri" pitchFamily="34" charset="-120"/>
              </a:rPr>
              <a:t>COLLEGE NAME        </a:t>
            </a:r>
            <a:pPr indent="0" marL="0">
              <a:buNone/>
            </a:pPr>
            <a:r>
              <a:rPr lang="en-US" sz="1400" dirty="0">
                <a:solidFill>
                  <a:srgbClr val="FFFFFF"/>
                </a:solidFill>
                <a:latin typeface="Calibri" pitchFamily="34" charset="0"/>
                <a:ea typeface="Calibri" pitchFamily="34" charset="-122"/>
                <a:cs typeface="Calibri" pitchFamily="34" charset="-120"/>
              </a:rPr>
              <a:t> :  SRM TRP Engineering College, Trichy</a:t>
            </a:r>
            <a:endParaRPr lang="en-US" sz="1400" dirty="0"/>
          </a:p>
        </p:txBody>
      </p:sp>
      <p:sp>
        <p:nvSpPr>
          <p:cNvPr id="13" name="Text 11"/>
          <p:cNvSpPr/>
          <p:nvPr/>
        </p:nvSpPr>
        <p:spPr>
          <a:xfrm>
            <a:off x="11521440" y="6446520"/>
            <a:ext cx="457200" cy="320040"/>
          </a:xfrm>
          <a:prstGeom prst="rect">
            <a:avLst/>
          </a:prstGeom>
          <a:noFill/>
          <a:ln/>
        </p:spPr>
        <p:txBody>
          <a:bodyPr wrap="square" rtlCol="0" anchor="ctr"/>
          <a:lstStyle/>
          <a:p>
            <a:pPr algn="r" indent="0" marL="0">
              <a:buNone/>
            </a:pPr>
            <a:r>
              <a:rPr lang="en-US" sz="1000" dirty="0">
                <a:solidFill>
                  <a:srgbClr val="9AA3B2"/>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0972800" cy="54864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Introduction &amp; Problem Statement</a:t>
            </a:r>
            <a:endParaRPr lang="en-US" sz="3000" dirty="0"/>
          </a:p>
        </p:txBody>
      </p:sp>
      <p:sp>
        <p:nvSpPr>
          <p:cNvPr id="3" name="Text 1"/>
          <p:cNvSpPr txBox="1"/>
          <p:nvPr/>
        </p:nvSpPr>
        <p:spPr>
          <a:xfrm>
            <a:off x="548640" y="1143000"/>
            <a:ext cx="6949440" cy="1737360"/>
          </a:xfrm>
          <a:prstGeom prst="rect">
            <a:avLst/>
          </a:prstGeom>
          <a:noFill/>
          <a:ln/>
        </p:spPr>
        <p:txBody>
          <a:bodyPr wrap="square" rtlCol="0" anchor="ctr"/>
          <a:lstStyle/>
          <a:p>
            <a:pPr indent="0" marL="0">
              <a:lnSpc>
                <a:spcPct val="125000"/>
              </a:lnSpc>
              <a:buNone/>
            </a:pPr>
            <a:r>
              <a:rPr lang="en-US" sz="1400" dirty="0">
                <a:solidFill>
                  <a:srgbClr val="3B3F4C"/>
                </a:solidFill>
                <a:latin typeface="Calibri" pitchFamily="34" charset="0"/>
                <a:ea typeface="Calibri" pitchFamily="34" charset="-122"/>
                <a:cs typeface="Calibri" pitchFamily="34" charset="-120"/>
              </a:rPr>
              <a:t>Employee attrition is a major organizational concern that causes loss of talent, productivity, and increased hiring cost. HR analytics datasets typically capture employee demographics, job role, compensation, satisfaction, and tenure. Systematic data analysis uncovers attrition patterns and risk factors; visualization helps communicate those insights to HR managers and leadership.</a:t>
            </a:r>
            <a:endParaRPr lang="en-US" sz="1400" dirty="0"/>
          </a:p>
        </p:txBody>
      </p:sp>
      <p:sp>
        <p:nvSpPr>
          <p:cNvPr id="4" name="Shape 2"/>
          <p:cNvSpPr/>
          <p:nvPr/>
        </p:nvSpPr>
        <p:spPr>
          <a:xfrm>
            <a:off x="548640" y="3063240"/>
            <a:ext cx="3337560" cy="1737360"/>
          </a:xfrm>
          <a:prstGeom prst="roundRect">
            <a:avLst>
              <a:gd name="adj" fmla="val 4211"/>
            </a:avLst>
          </a:prstGeom>
          <a:solidFill>
            <a:srgbClr val="F7F8FC"/>
          </a:solidFill>
          <a:ln/>
        </p:spPr>
      </p:sp>
      <p:sp>
        <p:nvSpPr>
          <p:cNvPr id="5" name="Text 3"/>
          <p:cNvSpPr txBox="1"/>
          <p:nvPr/>
        </p:nvSpPr>
        <p:spPr>
          <a:xfrm>
            <a:off x="777240" y="3227832"/>
            <a:ext cx="2880360" cy="320040"/>
          </a:xfrm>
          <a:prstGeom prst="rect">
            <a:avLst/>
          </a:prstGeom>
          <a:noFill/>
          <a:ln/>
        </p:spPr>
        <p:txBody>
          <a:bodyPr wrap="square"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Why it matters</a:t>
            </a:r>
            <a:endParaRPr lang="en-US" sz="1500" dirty="0"/>
          </a:p>
        </p:txBody>
      </p:sp>
      <p:sp>
        <p:nvSpPr>
          <p:cNvPr id="6" name="Text 4"/>
          <p:cNvSpPr txBox="1"/>
          <p:nvPr/>
        </p:nvSpPr>
        <p:spPr>
          <a:xfrm>
            <a:off x="777240" y="3611880"/>
            <a:ext cx="2880360" cy="1051560"/>
          </a:xfrm>
          <a:prstGeom prst="rect">
            <a:avLst/>
          </a:prstGeom>
          <a:noFill/>
          <a:ln/>
        </p:spPr>
        <p:txBody>
          <a:bodyPr wrap="square" rtlCol="0" anchor="ctr"/>
          <a:lstStyle/>
          <a:p>
            <a:pPr indent="0" marL="0">
              <a:buNone/>
            </a:pPr>
            <a:r>
              <a:rPr lang="en-US" sz="1250" dirty="0">
                <a:solidFill>
                  <a:srgbClr val="3B3F4C"/>
                </a:solidFill>
                <a:latin typeface="Calibri" pitchFamily="34" charset="0"/>
                <a:ea typeface="Calibri" pitchFamily="34" charset="-122"/>
                <a:cs typeface="Calibri" pitchFamily="34" charset="-120"/>
              </a:rPr>
              <a:t>Reduce turnover, improve retention, and inform HR policy and compensation decisions.</a:t>
            </a:r>
            <a:endParaRPr lang="en-US" sz="1250" dirty="0"/>
          </a:p>
        </p:txBody>
      </p:sp>
      <p:sp>
        <p:nvSpPr>
          <p:cNvPr id="7" name="Shape 5"/>
          <p:cNvSpPr/>
          <p:nvPr/>
        </p:nvSpPr>
        <p:spPr>
          <a:xfrm>
            <a:off x="4160520" y="3063240"/>
            <a:ext cx="3337560" cy="1737360"/>
          </a:xfrm>
          <a:prstGeom prst="roundRect">
            <a:avLst>
              <a:gd name="adj" fmla="val 4211"/>
            </a:avLst>
          </a:prstGeom>
          <a:solidFill>
            <a:srgbClr val="F7F8FC"/>
          </a:solidFill>
          <a:ln/>
        </p:spPr>
      </p:sp>
      <p:sp>
        <p:nvSpPr>
          <p:cNvPr id="8" name="Text 6"/>
          <p:cNvSpPr txBox="1"/>
          <p:nvPr/>
        </p:nvSpPr>
        <p:spPr>
          <a:xfrm>
            <a:off x="4389120" y="3227832"/>
            <a:ext cx="2880360" cy="320040"/>
          </a:xfrm>
          <a:prstGeom prst="rect">
            <a:avLst/>
          </a:prstGeom>
          <a:noFill/>
          <a:ln/>
        </p:spPr>
        <p:txBody>
          <a:bodyPr wrap="square"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What data contains</a:t>
            </a:r>
            <a:endParaRPr lang="en-US" sz="1500" dirty="0"/>
          </a:p>
        </p:txBody>
      </p:sp>
      <p:sp>
        <p:nvSpPr>
          <p:cNvPr id="9" name="Text 7"/>
          <p:cNvSpPr txBox="1"/>
          <p:nvPr/>
        </p:nvSpPr>
        <p:spPr>
          <a:xfrm>
            <a:off x="4389120" y="3611880"/>
            <a:ext cx="2880360" cy="1051560"/>
          </a:xfrm>
          <a:prstGeom prst="rect">
            <a:avLst/>
          </a:prstGeom>
          <a:noFill/>
          <a:ln/>
        </p:spPr>
        <p:txBody>
          <a:bodyPr wrap="square" rtlCol="0" anchor="ctr"/>
          <a:lstStyle/>
          <a:p>
            <a:pPr indent="0" marL="0">
              <a:buNone/>
            </a:pPr>
            <a:r>
              <a:rPr lang="en-US" sz="1250" dirty="0">
                <a:solidFill>
                  <a:srgbClr val="3B3F4C"/>
                </a:solidFill>
                <a:latin typeface="Calibri" pitchFamily="34" charset="0"/>
                <a:ea typeface="Calibri" pitchFamily="34" charset="-122"/>
                <a:cs typeface="Calibri" pitchFamily="34" charset="-120"/>
              </a:rPr>
              <a:t>Demographic, job-role, compensation, satisfaction, and tenure attributes.</a:t>
            </a:r>
            <a:endParaRPr lang="en-US" sz="1250" dirty="0"/>
          </a:p>
        </p:txBody>
      </p:sp>
      <p:sp>
        <p:nvSpPr>
          <p:cNvPr id="10" name="Shape 8"/>
          <p:cNvSpPr/>
          <p:nvPr/>
        </p:nvSpPr>
        <p:spPr>
          <a:xfrm>
            <a:off x="7909560" y="1143000"/>
            <a:ext cx="3703320" cy="3657600"/>
          </a:xfrm>
          <a:prstGeom prst="roundRect">
            <a:avLst>
              <a:gd name="adj" fmla="val 2500"/>
            </a:avLst>
          </a:prstGeom>
          <a:solidFill>
            <a:srgbClr val="1E2761"/>
          </a:solidFill>
          <a:ln/>
        </p:spPr>
      </p:sp>
      <p:sp>
        <p:nvSpPr>
          <p:cNvPr id="11" name="Shape 9"/>
          <p:cNvSpPr/>
          <p:nvPr/>
        </p:nvSpPr>
        <p:spPr>
          <a:xfrm>
            <a:off x="8275320" y="1508760"/>
            <a:ext cx="822960" cy="822960"/>
          </a:xfrm>
          <a:prstGeom prst="ellipse">
            <a:avLst/>
          </a:prstGeom>
          <a:solidFill>
            <a:srgbClr val="E8871E"/>
          </a:solidFill>
          <a:ln/>
        </p:spPr>
      </p:sp>
      <p:sp>
        <p:nvSpPr>
          <p:cNvPr id="12" name="Text 10"/>
          <p:cNvSpPr/>
          <p:nvPr/>
        </p:nvSpPr>
        <p:spPr>
          <a:xfrm>
            <a:off x="8275320" y="1508760"/>
            <a:ext cx="822960" cy="822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HR</a:t>
            </a:r>
            <a:endParaRPr lang="en-US" sz="2000" dirty="0"/>
          </a:p>
        </p:txBody>
      </p:sp>
      <p:sp>
        <p:nvSpPr>
          <p:cNvPr id="13" name="Text 11"/>
          <p:cNvSpPr txBox="1"/>
          <p:nvPr/>
        </p:nvSpPr>
        <p:spPr>
          <a:xfrm>
            <a:off x="8275320" y="2423160"/>
            <a:ext cx="2971800" cy="64008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People-first</a:t>
            </a:r>
            <a:endParaRPr lang="en-US" sz="1300" dirty="0"/>
          </a:p>
          <a:p>
            <a:pPr indent="0" marL="0">
              <a:buNone/>
            </a:pPr>
            <a:r>
              <a:rPr lang="en-US" sz="1300" b="1" dirty="0">
                <a:solidFill>
                  <a:srgbClr val="FFFFFF"/>
                </a:solidFill>
                <a:latin typeface="Calibri" pitchFamily="34" charset="0"/>
                <a:ea typeface="Calibri" pitchFamily="34" charset="-122"/>
                <a:cs typeface="Calibri" pitchFamily="34" charset="-120"/>
              </a:rPr>
              <a:t>analytics</a:t>
            </a:r>
            <a:endParaRPr lang="en-US" sz="1300" dirty="0"/>
          </a:p>
        </p:txBody>
      </p:sp>
      <p:sp>
        <p:nvSpPr>
          <p:cNvPr id="14" name="Text 12"/>
          <p:cNvSpPr txBox="1"/>
          <p:nvPr/>
        </p:nvSpPr>
        <p:spPr>
          <a:xfrm>
            <a:off x="8275320" y="3063240"/>
            <a:ext cx="3017520" cy="1554480"/>
          </a:xfrm>
          <a:prstGeom prst="rect">
            <a:avLst/>
          </a:prstGeom>
          <a:noFill/>
          <a:ln/>
        </p:spPr>
        <p:txBody>
          <a:bodyPr wrap="square" rtlCol="0" anchor="ctr"/>
          <a:lstStyle/>
          <a:p>
            <a:pPr indent="0" marL="0">
              <a:lnSpc>
                <a:spcPct val="120000"/>
              </a:lnSpc>
              <a:buNone/>
            </a:pPr>
            <a:r>
              <a:rPr lang="en-US" sz="1150" dirty="0">
                <a:solidFill>
                  <a:srgbClr val="CADCFC"/>
                </a:solidFill>
                <a:latin typeface="Calibri" pitchFamily="34" charset="0"/>
                <a:ea typeface="Calibri" pitchFamily="34" charset="-122"/>
                <a:cs typeface="Calibri" pitchFamily="34" charset="-120"/>
              </a:rPr>
              <a:t>Turning raw HR records into decisions that keep talent engaged.</a:t>
            </a:r>
            <a:endParaRPr lang="en-US" sz="1150" dirty="0"/>
          </a:p>
        </p:txBody>
      </p:sp>
      <p:sp>
        <p:nvSpPr>
          <p:cNvPr id="15" name="Shape 13"/>
          <p:cNvSpPr/>
          <p:nvPr/>
        </p:nvSpPr>
        <p:spPr>
          <a:xfrm>
            <a:off x="548640" y="5074920"/>
            <a:ext cx="10241280" cy="502920"/>
          </a:xfrm>
          <a:prstGeom prst="roundRect">
            <a:avLst>
              <a:gd name="adj" fmla="val 10909"/>
            </a:avLst>
          </a:prstGeom>
          <a:solidFill>
            <a:srgbClr val="CADCFC"/>
          </a:solidFill>
          <a:ln/>
        </p:spPr>
      </p:sp>
      <p:sp>
        <p:nvSpPr>
          <p:cNvPr id="16" name="Text 14"/>
          <p:cNvSpPr txBox="1"/>
          <p:nvPr/>
        </p:nvSpPr>
        <p:spPr>
          <a:xfrm>
            <a:off x="777240" y="5074920"/>
            <a:ext cx="9875520" cy="502920"/>
          </a:xfrm>
          <a:prstGeom prst="rect">
            <a:avLst/>
          </a:prstGeom>
          <a:noFill/>
          <a:ln/>
        </p:spPr>
        <p:txBody>
          <a:bodyPr wrap="square" rtlCol="0" anchor="ctr"/>
          <a:lstStyle/>
          <a:p>
            <a:pPr indent="0" marL="0">
              <a:buNone/>
            </a:pPr>
            <a:r>
              <a:rPr lang="en-US" sz="1300" i="1" dirty="0">
                <a:solidFill>
                  <a:srgbClr val="1E2761"/>
                </a:solidFill>
                <a:latin typeface="Calibri" pitchFamily="34" charset="0"/>
                <a:ea typeface="Calibri" pitchFamily="34" charset="-122"/>
                <a:cs typeface="Calibri" pitchFamily="34" charset="-120"/>
              </a:rPr>
              <a:t>Audience:  B.Tech AI &amp; Data Science students and faculty</a:t>
            </a:r>
            <a:endParaRPr lang="en-US" sz="1300" dirty="0"/>
          </a:p>
        </p:txBody>
      </p:sp>
      <p:sp>
        <p:nvSpPr>
          <p:cNvPr id="17" name="Text 15"/>
          <p:cNvSpPr/>
          <p:nvPr/>
        </p:nvSpPr>
        <p:spPr>
          <a:xfrm>
            <a:off x="11521440" y="6446520"/>
            <a:ext cx="457200" cy="320040"/>
          </a:xfrm>
          <a:prstGeom prst="rect">
            <a:avLst/>
          </a:prstGeom>
          <a:noFill/>
          <a:ln/>
        </p:spPr>
        <p:txBody>
          <a:bodyPr wrap="square" rtlCol="0" anchor="ctr"/>
          <a:lstStyle/>
          <a:p>
            <a:pPr algn="r" indent="0" marL="0">
              <a:buNone/>
            </a:pPr>
            <a:r>
              <a:rPr lang="en-US" sz="1000" dirty="0">
                <a:solidFill>
                  <a:srgbClr val="9AA3B2"/>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54864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Project Objectives</a:t>
            </a:r>
            <a:endParaRPr lang="en-US" sz="3000" dirty="0"/>
          </a:p>
        </p:txBody>
      </p:sp>
      <p:sp>
        <p:nvSpPr>
          <p:cNvPr id="3" name="Shape 1"/>
          <p:cNvSpPr/>
          <p:nvPr/>
        </p:nvSpPr>
        <p:spPr>
          <a:xfrm>
            <a:off x="548640" y="1371600"/>
            <a:ext cx="384048" cy="384048"/>
          </a:xfrm>
          <a:prstGeom prst="ellipse">
            <a:avLst/>
          </a:prstGeom>
          <a:solidFill>
            <a:srgbClr val="1E2761"/>
          </a:solidFill>
          <a:ln/>
        </p:spPr>
      </p:sp>
      <p:sp>
        <p:nvSpPr>
          <p:cNvPr id="4" name="Text 2"/>
          <p:cNvSpPr/>
          <p:nvPr/>
        </p:nvSpPr>
        <p:spPr>
          <a:xfrm>
            <a:off x="548640" y="1371600"/>
            <a:ext cx="384048" cy="38404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5" name="Text 3"/>
          <p:cNvSpPr txBox="1"/>
          <p:nvPr/>
        </p:nvSpPr>
        <p:spPr>
          <a:xfrm>
            <a:off x="1143000" y="1371600"/>
            <a:ext cx="6035040" cy="384048"/>
          </a:xfrm>
          <a:prstGeom prst="rect">
            <a:avLst/>
          </a:prstGeom>
          <a:noFill/>
          <a:ln/>
        </p:spPr>
        <p:txBody>
          <a:bodyPr wrap="square" lIns="0" tIns="0" rIns="0" bIns="0" rtlCol="0" anchor="ctr"/>
          <a:lstStyle/>
          <a:p>
            <a:pPr indent="0" marL="0">
              <a:buNone/>
            </a:pPr>
            <a:r>
              <a:rPr lang="en-US" sz="1400" dirty="0">
                <a:solidFill>
                  <a:srgbClr val="3B3F4C"/>
                </a:solidFill>
                <a:latin typeface="Calibri" pitchFamily="34" charset="0"/>
                <a:ea typeface="Calibri" pitchFamily="34" charset="-122"/>
                <a:cs typeface="Calibri" pitchFamily="34" charset="-120"/>
              </a:rPr>
              <a:t>Analyze HR data to discover attrition patterns</a:t>
            </a:r>
            <a:endParaRPr lang="en-US" sz="1400" dirty="0"/>
          </a:p>
        </p:txBody>
      </p:sp>
      <p:sp>
        <p:nvSpPr>
          <p:cNvPr id="6" name="Shape 4"/>
          <p:cNvSpPr/>
          <p:nvPr/>
        </p:nvSpPr>
        <p:spPr>
          <a:xfrm>
            <a:off x="548640" y="1938528"/>
            <a:ext cx="384048" cy="384048"/>
          </a:xfrm>
          <a:prstGeom prst="ellipse">
            <a:avLst/>
          </a:prstGeom>
          <a:solidFill>
            <a:srgbClr val="E8871E"/>
          </a:solidFill>
          <a:ln/>
        </p:spPr>
      </p:sp>
      <p:sp>
        <p:nvSpPr>
          <p:cNvPr id="7" name="Text 5"/>
          <p:cNvSpPr/>
          <p:nvPr/>
        </p:nvSpPr>
        <p:spPr>
          <a:xfrm>
            <a:off x="548640" y="1938528"/>
            <a:ext cx="384048" cy="38404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8" name="Text 6"/>
          <p:cNvSpPr txBox="1"/>
          <p:nvPr/>
        </p:nvSpPr>
        <p:spPr>
          <a:xfrm>
            <a:off x="1143000" y="1938528"/>
            <a:ext cx="6035040" cy="384048"/>
          </a:xfrm>
          <a:prstGeom prst="rect">
            <a:avLst/>
          </a:prstGeom>
          <a:noFill/>
          <a:ln/>
        </p:spPr>
        <p:txBody>
          <a:bodyPr wrap="square" lIns="0" tIns="0" rIns="0" bIns="0" rtlCol="0" anchor="ctr"/>
          <a:lstStyle/>
          <a:p>
            <a:pPr indent="0" marL="0">
              <a:buNone/>
            </a:pPr>
            <a:r>
              <a:rPr lang="en-US" sz="1400" dirty="0">
                <a:solidFill>
                  <a:srgbClr val="3B3F4C"/>
                </a:solidFill>
                <a:latin typeface="Calibri" pitchFamily="34" charset="0"/>
                <a:ea typeface="Calibri" pitchFamily="34" charset="-122"/>
                <a:cs typeface="Calibri" pitchFamily="34" charset="-120"/>
              </a:rPr>
              <a:t>Identify major factors contributing to employee attrition</a:t>
            </a:r>
            <a:endParaRPr lang="en-US" sz="1400" dirty="0"/>
          </a:p>
        </p:txBody>
      </p:sp>
      <p:sp>
        <p:nvSpPr>
          <p:cNvPr id="9" name="Shape 7"/>
          <p:cNvSpPr/>
          <p:nvPr/>
        </p:nvSpPr>
        <p:spPr>
          <a:xfrm>
            <a:off x="548640" y="2505456"/>
            <a:ext cx="384048" cy="384048"/>
          </a:xfrm>
          <a:prstGeom prst="ellipse">
            <a:avLst/>
          </a:prstGeom>
          <a:solidFill>
            <a:srgbClr val="1E2761"/>
          </a:solidFill>
          <a:ln/>
        </p:spPr>
      </p:sp>
      <p:sp>
        <p:nvSpPr>
          <p:cNvPr id="10" name="Text 8"/>
          <p:cNvSpPr/>
          <p:nvPr/>
        </p:nvSpPr>
        <p:spPr>
          <a:xfrm>
            <a:off x="548640" y="2505456"/>
            <a:ext cx="384048" cy="38404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1" name="Text 9"/>
          <p:cNvSpPr txBox="1"/>
          <p:nvPr/>
        </p:nvSpPr>
        <p:spPr>
          <a:xfrm>
            <a:off x="1143000" y="2505456"/>
            <a:ext cx="6035040" cy="384048"/>
          </a:xfrm>
          <a:prstGeom prst="rect">
            <a:avLst/>
          </a:prstGeom>
          <a:noFill/>
          <a:ln/>
        </p:spPr>
        <p:txBody>
          <a:bodyPr wrap="square" lIns="0" tIns="0" rIns="0" bIns="0" rtlCol="0" anchor="ctr"/>
          <a:lstStyle/>
          <a:p>
            <a:pPr indent="0" marL="0">
              <a:buNone/>
            </a:pPr>
            <a:r>
              <a:rPr lang="en-US" sz="1400" dirty="0">
                <a:solidFill>
                  <a:srgbClr val="3B3F4C"/>
                </a:solidFill>
                <a:latin typeface="Calibri" pitchFamily="34" charset="0"/>
                <a:ea typeface="Calibri" pitchFamily="34" charset="-122"/>
                <a:cs typeface="Calibri" pitchFamily="34" charset="-120"/>
              </a:rPr>
              <a:t>Study departmental and demographic trends</a:t>
            </a:r>
            <a:endParaRPr lang="en-US" sz="1400" dirty="0"/>
          </a:p>
        </p:txBody>
      </p:sp>
      <p:sp>
        <p:nvSpPr>
          <p:cNvPr id="12" name="Shape 10"/>
          <p:cNvSpPr/>
          <p:nvPr/>
        </p:nvSpPr>
        <p:spPr>
          <a:xfrm>
            <a:off x="548640" y="3072384"/>
            <a:ext cx="384048" cy="384048"/>
          </a:xfrm>
          <a:prstGeom prst="ellipse">
            <a:avLst/>
          </a:prstGeom>
          <a:solidFill>
            <a:srgbClr val="E8871E"/>
          </a:solidFill>
          <a:ln/>
        </p:spPr>
      </p:sp>
      <p:sp>
        <p:nvSpPr>
          <p:cNvPr id="13" name="Text 11"/>
          <p:cNvSpPr/>
          <p:nvPr/>
        </p:nvSpPr>
        <p:spPr>
          <a:xfrm>
            <a:off x="548640" y="3072384"/>
            <a:ext cx="384048" cy="38404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4" name="Text 12"/>
          <p:cNvSpPr txBox="1"/>
          <p:nvPr/>
        </p:nvSpPr>
        <p:spPr>
          <a:xfrm>
            <a:off x="1143000" y="3072384"/>
            <a:ext cx="6035040" cy="384048"/>
          </a:xfrm>
          <a:prstGeom prst="rect">
            <a:avLst/>
          </a:prstGeom>
          <a:noFill/>
          <a:ln/>
        </p:spPr>
        <p:txBody>
          <a:bodyPr wrap="square" lIns="0" tIns="0" rIns="0" bIns="0" rtlCol="0" anchor="ctr"/>
          <a:lstStyle/>
          <a:p>
            <a:pPr indent="0" marL="0">
              <a:buNone/>
            </a:pPr>
            <a:r>
              <a:rPr lang="en-US" sz="1400" dirty="0">
                <a:solidFill>
                  <a:srgbClr val="3B3F4C"/>
                </a:solidFill>
                <a:latin typeface="Calibri" pitchFamily="34" charset="0"/>
                <a:ea typeface="Calibri" pitchFamily="34" charset="-122"/>
                <a:cs typeface="Calibri" pitchFamily="34" charset="-120"/>
              </a:rPr>
              <a:t>Assess attrition rate by tenure and job role</a:t>
            </a:r>
            <a:endParaRPr lang="en-US" sz="1400" dirty="0"/>
          </a:p>
        </p:txBody>
      </p:sp>
      <p:sp>
        <p:nvSpPr>
          <p:cNvPr id="15" name="Shape 13"/>
          <p:cNvSpPr/>
          <p:nvPr/>
        </p:nvSpPr>
        <p:spPr>
          <a:xfrm>
            <a:off x="548640" y="3639312"/>
            <a:ext cx="384048" cy="384048"/>
          </a:xfrm>
          <a:prstGeom prst="ellipse">
            <a:avLst/>
          </a:prstGeom>
          <a:solidFill>
            <a:srgbClr val="1E2761"/>
          </a:solidFill>
          <a:ln/>
        </p:spPr>
      </p:sp>
      <p:sp>
        <p:nvSpPr>
          <p:cNvPr id="16" name="Text 14"/>
          <p:cNvSpPr/>
          <p:nvPr/>
        </p:nvSpPr>
        <p:spPr>
          <a:xfrm>
            <a:off x="548640" y="3639312"/>
            <a:ext cx="384048" cy="38404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17" name="Text 15"/>
          <p:cNvSpPr txBox="1"/>
          <p:nvPr/>
        </p:nvSpPr>
        <p:spPr>
          <a:xfrm>
            <a:off x="1143000" y="3639312"/>
            <a:ext cx="6035040" cy="384048"/>
          </a:xfrm>
          <a:prstGeom prst="rect">
            <a:avLst/>
          </a:prstGeom>
          <a:noFill/>
          <a:ln/>
        </p:spPr>
        <p:txBody>
          <a:bodyPr wrap="square" lIns="0" tIns="0" rIns="0" bIns="0" rtlCol="0" anchor="ctr"/>
          <a:lstStyle/>
          <a:p>
            <a:pPr indent="0" marL="0">
              <a:buNone/>
            </a:pPr>
            <a:r>
              <a:rPr lang="en-US" sz="1400" dirty="0">
                <a:solidFill>
                  <a:srgbClr val="3B3F4C"/>
                </a:solidFill>
                <a:latin typeface="Calibri" pitchFamily="34" charset="0"/>
                <a:ea typeface="Calibri" pitchFamily="34" charset="-122"/>
                <a:cs typeface="Calibri" pitchFamily="34" charset="-120"/>
              </a:rPr>
              <a:t>Locate high-risk employee segments</a:t>
            </a:r>
            <a:endParaRPr lang="en-US" sz="1400" dirty="0"/>
          </a:p>
        </p:txBody>
      </p:sp>
      <p:sp>
        <p:nvSpPr>
          <p:cNvPr id="18" name="Shape 16"/>
          <p:cNvSpPr/>
          <p:nvPr/>
        </p:nvSpPr>
        <p:spPr>
          <a:xfrm>
            <a:off x="548640" y="4206240"/>
            <a:ext cx="384048" cy="384048"/>
          </a:xfrm>
          <a:prstGeom prst="ellipse">
            <a:avLst/>
          </a:prstGeom>
          <a:solidFill>
            <a:srgbClr val="E8871E"/>
          </a:solidFill>
          <a:ln/>
        </p:spPr>
      </p:sp>
      <p:sp>
        <p:nvSpPr>
          <p:cNvPr id="19" name="Text 17"/>
          <p:cNvSpPr/>
          <p:nvPr/>
        </p:nvSpPr>
        <p:spPr>
          <a:xfrm>
            <a:off x="548640" y="4206240"/>
            <a:ext cx="384048" cy="38404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6</a:t>
            </a:r>
            <a:endParaRPr lang="en-US" sz="2000" dirty="0"/>
          </a:p>
        </p:txBody>
      </p:sp>
      <p:sp>
        <p:nvSpPr>
          <p:cNvPr id="20" name="Text 18"/>
          <p:cNvSpPr txBox="1"/>
          <p:nvPr/>
        </p:nvSpPr>
        <p:spPr>
          <a:xfrm>
            <a:off x="1143000" y="4206240"/>
            <a:ext cx="6035040" cy="384048"/>
          </a:xfrm>
          <a:prstGeom prst="rect">
            <a:avLst/>
          </a:prstGeom>
          <a:noFill/>
          <a:ln/>
        </p:spPr>
        <p:txBody>
          <a:bodyPr wrap="square" lIns="0" tIns="0" rIns="0" bIns="0" rtlCol="0" anchor="ctr"/>
          <a:lstStyle/>
          <a:p>
            <a:pPr indent="0" marL="0">
              <a:buNone/>
            </a:pPr>
            <a:r>
              <a:rPr lang="en-US" sz="1400" dirty="0">
                <a:solidFill>
                  <a:srgbClr val="3B3F4C"/>
                </a:solidFill>
                <a:latin typeface="Calibri" pitchFamily="34" charset="0"/>
                <a:ea typeface="Calibri" pitchFamily="34" charset="-122"/>
                <a:cs typeface="Calibri" pitchFamily="34" charset="-120"/>
              </a:rPr>
              <a:t>Understand the role of salary and work-life balance</a:t>
            </a:r>
            <a:endParaRPr lang="en-US" sz="1400" dirty="0"/>
          </a:p>
        </p:txBody>
      </p:sp>
      <p:sp>
        <p:nvSpPr>
          <p:cNvPr id="21" name="Shape 19"/>
          <p:cNvSpPr/>
          <p:nvPr/>
        </p:nvSpPr>
        <p:spPr>
          <a:xfrm>
            <a:off x="548640" y="4773168"/>
            <a:ext cx="384048" cy="384048"/>
          </a:xfrm>
          <a:prstGeom prst="ellipse">
            <a:avLst/>
          </a:prstGeom>
          <a:solidFill>
            <a:srgbClr val="1E2761"/>
          </a:solidFill>
          <a:ln/>
        </p:spPr>
      </p:sp>
      <p:sp>
        <p:nvSpPr>
          <p:cNvPr id="22" name="Text 20"/>
          <p:cNvSpPr/>
          <p:nvPr/>
        </p:nvSpPr>
        <p:spPr>
          <a:xfrm>
            <a:off x="548640" y="4773168"/>
            <a:ext cx="384048" cy="38404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7</a:t>
            </a:r>
            <a:endParaRPr lang="en-US" sz="2000" dirty="0"/>
          </a:p>
        </p:txBody>
      </p:sp>
      <p:sp>
        <p:nvSpPr>
          <p:cNvPr id="23" name="Text 21"/>
          <p:cNvSpPr txBox="1"/>
          <p:nvPr/>
        </p:nvSpPr>
        <p:spPr>
          <a:xfrm>
            <a:off x="1143000" y="4773168"/>
            <a:ext cx="6035040" cy="384048"/>
          </a:xfrm>
          <a:prstGeom prst="rect">
            <a:avLst/>
          </a:prstGeom>
          <a:noFill/>
          <a:ln/>
        </p:spPr>
        <p:txBody>
          <a:bodyPr wrap="square" lIns="0" tIns="0" rIns="0" bIns="0" rtlCol="0" anchor="ctr"/>
          <a:lstStyle/>
          <a:p>
            <a:pPr indent="0" marL="0">
              <a:buNone/>
            </a:pPr>
            <a:r>
              <a:rPr lang="en-US" sz="1400" dirty="0">
                <a:solidFill>
                  <a:srgbClr val="3B3F4C"/>
                </a:solidFill>
                <a:latin typeface="Calibri" pitchFamily="34" charset="0"/>
                <a:ea typeface="Calibri" pitchFamily="34" charset="-122"/>
                <a:cs typeface="Calibri" pitchFamily="34" charset="-120"/>
              </a:rPr>
              <a:t>Present actionable retention strategies using charts</a:t>
            </a:r>
            <a:endParaRPr lang="en-US" sz="1400" dirty="0"/>
          </a:p>
        </p:txBody>
      </p:sp>
      <p:sp>
        <p:nvSpPr>
          <p:cNvPr id="24" name="Shape 22"/>
          <p:cNvSpPr/>
          <p:nvPr/>
        </p:nvSpPr>
        <p:spPr>
          <a:xfrm>
            <a:off x="7635240" y="1371600"/>
            <a:ext cx="3977640" cy="4434840"/>
          </a:xfrm>
          <a:prstGeom prst="roundRect">
            <a:avLst>
              <a:gd name="adj" fmla="val 2299"/>
            </a:avLst>
          </a:prstGeom>
          <a:solidFill>
            <a:srgbClr val="1E2761"/>
          </a:solidFill>
          <a:ln/>
        </p:spPr>
      </p:sp>
      <p:sp>
        <p:nvSpPr>
          <p:cNvPr id="25" name="Text 23"/>
          <p:cNvSpPr txBox="1"/>
          <p:nvPr/>
        </p:nvSpPr>
        <p:spPr>
          <a:xfrm>
            <a:off x="7955280" y="1691640"/>
            <a:ext cx="3383280" cy="1097280"/>
          </a:xfrm>
          <a:prstGeom prst="rect">
            <a:avLst/>
          </a:prstGeom>
          <a:noFill/>
          <a:ln/>
        </p:spPr>
        <p:txBody>
          <a:bodyPr wrap="square" rtlCol="0" anchor="ctr"/>
          <a:lstStyle/>
          <a:p>
            <a:pPr indent="0" marL="0">
              <a:lnSpc>
                <a:spcPct val="120000"/>
              </a:lnSpc>
              <a:buNone/>
            </a:pPr>
            <a:r>
              <a:rPr lang="en-US" sz="1700" b="1" dirty="0">
                <a:solidFill>
                  <a:srgbClr val="FFFFFF"/>
                </a:solidFill>
                <a:latin typeface="Cambria" pitchFamily="34" charset="0"/>
                <a:ea typeface="Cambria" pitchFamily="34" charset="-122"/>
                <a:cs typeface="Cambria" pitchFamily="34" charset="-120"/>
              </a:rPr>
              <a:t>Concise, measurable</a:t>
            </a:r>
            <a:endParaRPr lang="en-US" sz="1700" dirty="0"/>
          </a:p>
          <a:p>
            <a:pPr indent="0" marL="0">
              <a:lnSpc>
                <a:spcPct val="120000"/>
              </a:lnSpc>
              <a:buNone/>
            </a:pPr>
            <a:r>
              <a:rPr lang="en-US" sz="1700" b="1" dirty="0">
                <a:solidFill>
                  <a:srgbClr val="FFFFFF"/>
                </a:solidFill>
                <a:latin typeface="Cambria" pitchFamily="34" charset="0"/>
                <a:ea typeface="Cambria" pitchFamily="34" charset="-122"/>
                <a:cs typeface="Cambria" pitchFamily="34" charset="-120"/>
              </a:rPr>
              <a:t>objectives guide the</a:t>
            </a:r>
            <a:endParaRPr lang="en-US" sz="1700" dirty="0"/>
          </a:p>
          <a:p>
            <a:pPr indent="0" marL="0">
              <a:lnSpc>
                <a:spcPct val="120000"/>
              </a:lnSpc>
              <a:buNone/>
            </a:pPr>
            <a:r>
              <a:rPr lang="en-US" sz="1700" b="1" dirty="0">
                <a:solidFill>
                  <a:srgbClr val="FFFFFF"/>
                </a:solidFill>
                <a:latin typeface="Cambria" pitchFamily="34" charset="0"/>
                <a:ea typeface="Cambria" pitchFamily="34" charset="-122"/>
                <a:cs typeface="Cambria" pitchFamily="34" charset="-120"/>
              </a:rPr>
              <a:t>entire analysis</a:t>
            </a:r>
            <a:endParaRPr lang="en-US" sz="1700" dirty="0"/>
          </a:p>
        </p:txBody>
      </p:sp>
      <p:sp>
        <p:nvSpPr>
          <p:cNvPr id="26" name="Shape 24"/>
          <p:cNvSpPr/>
          <p:nvPr/>
        </p:nvSpPr>
        <p:spPr>
          <a:xfrm>
            <a:off x="7955280" y="2971800"/>
            <a:ext cx="914400" cy="914400"/>
          </a:xfrm>
          <a:prstGeom prst="ellipse">
            <a:avLst/>
          </a:prstGeom>
          <a:solidFill>
            <a:srgbClr val="E8871E"/>
          </a:solidFill>
          <a:ln/>
        </p:spPr>
      </p:sp>
      <p:sp>
        <p:nvSpPr>
          <p:cNvPr id="27" name="Text 25"/>
          <p:cNvSpPr/>
          <p:nvPr/>
        </p:nvSpPr>
        <p:spPr>
          <a:xfrm>
            <a:off x="7955280" y="2971800"/>
            <a:ext cx="914400" cy="9144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28" name="Text 26"/>
          <p:cNvSpPr txBox="1"/>
          <p:nvPr/>
        </p:nvSpPr>
        <p:spPr>
          <a:xfrm>
            <a:off x="7955280" y="4069080"/>
            <a:ext cx="3383280" cy="548640"/>
          </a:xfrm>
          <a:prstGeom prst="rect">
            <a:avLst/>
          </a:prstGeom>
          <a:noFill/>
          <a:ln/>
        </p:spPr>
        <p:txBody>
          <a:bodyPr wrap="square" rtlCol="0" anchor="ctr"/>
          <a:lstStyle/>
          <a:p>
            <a:pPr indent="0" marL="0">
              <a:buNone/>
            </a:pPr>
            <a:r>
              <a:rPr lang="en-US" sz="1250" i="1" dirty="0">
                <a:solidFill>
                  <a:srgbClr val="CADCFC"/>
                </a:solidFill>
                <a:latin typeface="Calibri" pitchFamily="34" charset="0"/>
                <a:ea typeface="Calibri" pitchFamily="34" charset="-122"/>
                <a:cs typeface="Calibri" pitchFamily="34" charset="-120"/>
              </a:rPr>
              <a:t>From raw records</a:t>
            </a:r>
            <a:endParaRPr lang="en-US" sz="1250" dirty="0"/>
          </a:p>
          <a:p>
            <a:pPr indent="0" marL="0">
              <a:buNone/>
            </a:pPr>
            <a:r>
              <a:rPr lang="en-US" sz="1250" i="1" dirty="0">
                <a:solidFill>
                  <a:srgbClr val="CADCFC"/>
                </a:solidFill>
                <a:latin typeface="Calibri" pitchFamily="34" charset="0"/>
                <a:ea typeface="Calibri" pitchFamily="34" charset="-122"/>
                <a:cs typeface="Calibri" pitchFamily="34" charset="-120"/>
              </a:rPr>
              <a:t>to retention wins</a:t>
            </a:r>
            <a:endParaRPr lang="en-US" sz="1250" dirty="0"/>
          </a:p>
        </p:txBody>
      </p:sp>
      <p:sp>
        <p:nvSpPr>
          <p:cNvPr id="29" name="Text 27"/>
          <p:cNvSpPr txBox="1"/>
          <p:nvPr/>
        </p:nvSpPr>
        <p:spPr>
          <a:xfrm>
            <a:off x="7955280" y="4709160"/>
            <a:ext cx="3383280" cy="914400"/>
          </a:xfrm>
          <a:prstGeom prst="rect">
            <a:avLst/>
          </a:prstGeom>
          <a:noFill/>
          <a:ln/>
        </p:spPr>
        <p:txBody>
          <a:bodyPr wrap="square" rtlCol="0" anchor="ctr"/>
          <a:lstStyle/>
          <a:p>
            <a:pPr indent="0" marL="0">
              <a:lnSpc>
                <a:spcPct val="120000"/>
              </a:lnSpc>
              <a:buNone/>
            </a:pPr>
            <a:r>
              <a:rPr lang="en-US" sz="1150" dirty="0">
                <a:solidFill>
                  <a:srgbClr val="CADCFC"/>
                </a:solidFill>
                <a:latin typeface="Calibri" pitchFamily="34" charset="0"/>
                <a:ea typeface="Calibri" pitchFamily="34" charset="-122"/>
                <a:cs typeface="Calibri" pitchFamily="34" charset="-120"/>
              </a:rPr>
              <a:t>Every objective maps to a specific chart or metric later in this deck.</a:t>
            </a:r>
            <a:endParaRPr lang="en-US" sz="1150" dirty="0"/>
          </a:p>
        </p:txBody>
      </p:sp>
      <p:sp>
        <p:nvSpPr>
          <p:cNvPr id="30" name="Text 28"/>
          <p:cNvSpPr/>
          <p:nvPr/>
        </p:nvSpPr>
        <p:spPr>
          <a:xfrm>
            <a:off x="11521440" y="6446520"/>
            <a:ext cx="457200" cy="320040"/>
          </a:xfrm>
          <a:prstGeom prst="rect">
            <a:avLst/>
          </a:prstGeom>
          <a:noFill/>
          <a:ln/>
        </p:spPr>
        <p:txBody>
          <a:bodyPr wrap="square" rtlCol="0" anchor="ctr"/>
          <a:lstStyle/>
          <a:p>
            <a:pPr algn="r" indent="0" marL="0">
              <a:buNone/>
            </a:pPr>
            <a:r>
              <a:rPr lang="en-US" sz="1000" dirty="0">
                <a:solidFill>
                  <a:srgbClr val="9AA3B2"/>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0058400" cy="54864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Dataset &amp; Data Preprocessing</a:t>
            </a:r>
            <a:endParaRPr lang="en-US" sz="3000" dirty="0"/>
          </a:p>
        </p:txBody>
      </p:sp>
      <p:sp>
        <p:nvSpPr>
          <p:cNvPr id="3" name="Text 1"/>
          <p:cNvSpPr txBox="1"/>
          <p:nvPr/>
        </p:nvSpPr>
        <p:spPr>
          <a:xfrm>
            <a:off x="548640" y="960120"/>
            <a:ext cx="9144000" cy="320040"/>
          </a:xfrm>
          <a:prstGeom prst="rect">
            <a:avLst/>
          </a:prstGeom>
          <a:noFill/>
          <a:ln/>
        </p:spPr>
        <p:txBody>
          <a:bodyPr wrap="square" rtlCol="0" anchor="ctr"/>
          <a:lstStyle/>
          <a:p>
            <a:pPr indent="0" marL="0">
              <a:buNone/>
            </a:pPr>
            <a:r>
              <a:rPr lang="en-US" sz="1300" i="1" dirty="0">
                <a:solidFill>
                  <a:srgbClr val="3B3F4C"/>
                </a:solidFill>
                <a:latin typeface="Calibri" pitchFamily="34" charset="0"/>
                <a:ea typeface="Calibri" pitchFamily="34" charset="-122"/>
                <a:cs typeface="Calibri" pitchFamily="34" charset="-120"/>
              </a:rPr>
              <a:t>Key dataset attributes typically used in analysis:</a:t>
            </a:r>
            <a:endParaRPr lang="en-US" sz="1300" dirty="0"/>
          </a:p>
        </p:txBody>
      </p:sp>
      <p:sp>
        <p:nvSpPr>
          <p:cNvPr id="4" name="Shape 2"/>
          <p:cNvSpPr/>
          <p:nvPr/>
        </p:nvSpPr>
        <p:spPr>
          <a:xfrm>
            <a:off x="548640" y="1417320"/>
            <a:ext cx="3401568" cy="868680"/>
          </a:xfrm>
          <a:prstGeom prst="roundRect">
            <a:avLst>
              <a:gd name="adj" fmla="val 7368"/>
            </a:avLst>
          </a:prstGeom>
          <a:solidFill>
            <a:srgbClr val="F7F8FC"/>
          </a:solidFill>
          <a:ln/>
        </p:spPr>
      </p:sp>
      <p:sp>
        <p:nvSpPr>
          <p:cNvPr id="5" name="Text 3"/>
          <p:cNvSpPr txBox="1"/>
          <p:nvPr/>
        </p:nvSpPr>
        <p:spPr>
          <a:xfrm>
            <a:off x="713232" y="1508760"/>
            <a:ext cx="3072384" cy="292608"/>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Employee ID</a:t>
            </a:r>
            <a:endParaRPr lang="en-US" sz="1300" dirty="0"/>
          </a:p>
        </p:txBody>
      </p:sp>
      <p:sp>
        <p:nvSpPr>
          <p:cNvPr id="6" name="Text 4"/>
          <p:cNvSpPr txBox="1"/>
          <p:nvPr/>
        </p:nvSpPr>
        <p:spPr>
          <a:xfrm>
            <a:off x="713232" y="1801368"/>
            <a:ext cx="3072384" cy="438912"/>
          </a:xfrm>
          <a:prstGeom prst="rect">
            <a:avLst/>
          </a:prstGeom>
          <a:noFill/>
          <a:ln/>
        </p:spPr>
        <p:txBody>
          <a:bodyPr wrap="square" lIns="0" tIns="0" rIns="0" bIns="0" rtlCol="0" anchor="ctr"/>
          <a:lstStyle/>
          <a:p>
            <a:pPr indent="0" marL="0">
              <a:lnSpc>
                <a:spcPct val="110000"/>
              </a:lnSpc>
              <a:buNone/>
            </a:pPr>
            <a:r>
              <a:rPr lang="en-US" sz="1100" dirty="0">
                <a:solidFill>
                  <a:srgbClr val="3B3F4C"/>
                </a:solidFill>
                <a:latin typeface="Calibri" pitchFamily="34" charset="0"/>
                <a:ea typeface="Calibri" pitchFamily="34" charset="-122"/>
                <a:cs typeface="Calibri" pitchFamily="34" charset="-120"/>
              </a:rPr>
              <a:t>Unique identifier for each record</a:t>
            </a:r>
            <a:endParaRPr lang="en-US" sz="1100" dirty="0"/>
          </a:p>
        </p:txBody>
      </p:sp>
      <p:sp>
        <p:nvSpPr>
          <p:cNvPr id="7" name="Shape 5"/>
          <p:cNvSpPr/>
          <p:nvPr/>
        </p:nvSpPr>
        <p:spPr>
          <a:xfrm>
            <a:off x="4059936" y="1417320"/>
            <a:ext cx="3401568" cy="868680"/>
          </a:xfrm>
          <a:prstGeom prst="roundRect">
            <a:avLst>
              <a:gd name="adj" fmla="val 7368"/>
            </a:avLst>
          </a:prstGeom>
          <a:solidFill>
            <a:srgbClr val="F7F8FC"/>
          </a:solidFill>
          <a:ln/>
        </p:spPr>
      </p:sp>
      <p:sp>
        <p:nvSpPr>
          <p:cNvPr id="8" name="Text 6"/>
          <p:cNvSpPr txBox="1"/>
          <p:nvPr/>
        </p:nvSpPr>
        <p:spPr>
          <a:xfrm>
            <a:off x="4224528" y="1508760"/>
            <a:ext cx="3072384" cy="292608"/>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Age &amp; Gender</a:t>
            </a:r>
            <a:endParaRPr lang="en-US" sz="1300" dirty="0"/>
          </a:p>
        </p:txBody>
      </p:sp>
      <p:sp>
        <p:nvSpPr>
          <p:cNvPr id="9" name="Text 7"/>
          <p:cNvSpPr txBox="1"/>
          <p:nvPr/>
        </p:nvSpPr>
        <p:spPr>
          <a:xfrm>
            <a:off x="4224528" y="1801368"/>
            <a:ext cx="3072384" cy="438912"/>
          </a:xfrm>
          <a:prstGeom prst="rect">
            <a:avLst/>
          </a:prstGeom>
          <a:noFill/>
          <a:ln/>
        </p:spPr>
        <p:txBody>
          <a:bodyPr wrap="square" lIns="0" tIns="0" rIns="0" bIns="0" rtlCol="0" anchor="ctr"/>
          <a:lstStyle/>
          <a:p>
            <a:pPr indent="0" marL="0">
              <a:lnSpc>
                <a:spcPct val="110000"/>
              </a:lnSpc>
              <a:buNone/>
            </a:pPr>
            <a:r>
              <a:rPr lang="en-US" sz="1100" dirty="0">
                <a:solidFill>
                  <a:srgbClr val="3B3F4C"/>
                </a:solidFill>
                <a:latin typeface="Calibri" pitchFamily="34" charset="0"/>
                <a:ea typeface="Calibri" pitchFamily="34" charset="-122"/>
                <a:cs typeface="Calibri" pitchFamily="34" charset="-120"/>
              </a:rPr>
              <a:t>Core demographic attributes</a:t>
            </a:r>
            <a:endParaRPr lang="en-US" sz="1100" dirty="0"/>
          </a:p>
        </p:txBody>
      </p:sp>
      <p:sp>
        <p:nvSpPr>
          <p:cNvPr id="10" name="Shape 8"/>
          <p:cNvSpPr/>
          <p:nvPr/>
        </p:nvSpPr>
        <p:spPr>
          <a:xfrm>
            <a:off x="7571232" y="1417320"/>
            <a:ext cx="3401568" cy="868680"/>
          </a:xfrm>
          <a:prstGeom prst="roundRect">
            <a:avLst>
              <a:gd name="adj" fmla="val 7368"/>
            </a:avLst>
          </a:prstGeom>
          <a:solidFill>
            <a:srgbClr val="F7F8FC"/>
          </a:solidFill>
          <a:ln/>
        </p:spPr>
      </p:sp>
      <p:sp>
        <p:nvSpPr>
          <p:cNvPr id="11" name="Text 9"/>
          <p:cNvSpPr txBox="1"/>
          <p:nvPr/>
        </p:nvSpPr>
        <p:spPr>
          <a:xfrm>
            <a:off x="7735824" y="1508760"/>
            <a:ext cx="3072384" cy="292608"/>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Department &amp; Job Role</a:t>
            </a:r>
            <a:endParaRPr lang="en-US" sz="1300" dirty="0"/>
          </a:p>
        </p:txBody>
      </p:sp>
      <p:sp>
        <p:nvSpPr>
          <p:cNvPr id="12" name="Text 10"/>
          <p:cNvSpPr txBox="1"/>
          <p:nvPr/>
        </p:nvSpPr>
        <p:spPr>
          <a:xfrm>
            <a:off x="7735824" y="1801368"/>
            <a:ext cx="3072384" cy="438912"/>
          </a:xfrm>
          <a:prstGeom prst="rect">
            <a:avLst/>
          </a:prstGeom>
          <a:noFill/>
          <a:ln/>
        </p:spPr>
        <p:txBody>
          <a:bodyPr wrap="square" lIns="0" tIns="0" rIns="0" bIns="0" rtlCol="0" anchor="ctr"/>
          <a:lstStyle/>
          <a:p>
            <a:pPr indent="0" marL="0">
              <a:lnSpc>
                <a:spcPct val="110000"/>
              </a:lnSpc>
              <a:buNone/>
            </a:pPr>
            <a:r>
              <a:rPr lang="en-US" sz="1100" dirty="0">
                <a:solidFill>
                  <a:srgbClr val="3B3F4C"/>
                </a:solidFill>
                <a:latin typeface="Calibri" pitchFamily="34" charset="0"/>
                <a:ea typeface="Calibri" pitchFamily="34" charset="-122"/>
                <a:cs typeface="Calibri" pitchFamily="34" charset="-120"/>
              </a:rPr>
              <a:t>Sales, R&amp;D, HR, IT, Finance, etc.</a:t>
            </a:r>
            <a:endParaRPr lang="en-US" sz="1100" dirty="0"/>
          </a:p>
        </p:txBody>
      </p:sp>
      <p:sp>
        <p:nvSpPr>
          <p:cNvPr id="13" name="Shape 11"/>
          <p:cNvSpPr/>
          <p:nvPr/>
        </p:nvSpPr>
        <p:spPr>
          <a:xfrm>
            <a:off x="548640" y="2395728"/>
            <a:ext cx="3401568" cy="868680"/>
          </a:xfrm>
          <a:prstGeom prst="roundRect">
            <a:avLst>
              <a:gd name="adj" fmla="val 7368"/>
            </a:avLst>
          </a:prstGeom>
          <a:solidFill>
            <a:srgbClr val="F7F8FC"/>
          </a:solidFill>
          <a:ln/>
        </p:spPr>
      </p:sp>
      <p:sp>
        <p:nvSpPr>
          <p:cNvPr id="14" name="Text 12"/>
          <p:cNvSpPr txBox="1"/>
          <p:nvPr/>
        </p:nvSpPr>
        <p:spPr>
          <a:xfrm>
            <a:off x="713232" y="2487168"/>
            <a:ext cx="3072384" cy="292608"/>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Monthly Income</a:t>
            </a:r>
            <a:endParaRPr lang="en-US" sz="1300" dirty="0"/>
          </a:p>
        </p:txBody>
      </p:sp>
      <p:sp>
        <p:nvSpPr>
          <p:cNvPr id="15" name="Text 13"/>
          <p:cNvSpPr txBox="1"/>
          <p:nvPr/>
        </p:nvSpPr>
        <p:spPr>
          <a:xfrm>
            <a:off x="713232" y="2779776"/>
            <a:ext cx="3072384" cy="438912"/>
          </a:xfrm>
          <a:prstGeom prst="rect">
            <a:avLst/>
          </a:prstGeom>
          <a:noFill/>
          <a:ln/>
        </p:spPr>
        <p:txBody>
          <a:bodyPr wrap="square" lIns="0" tIns="0" rIns="0" bIns="0" rtlCol="0" anchor="ctr"/>
          <a:lstStyle/>
          <a:p>
            <a:pPr indent="0" marL="0">
              <a:lnSpc>
                <a:spcPct val="110000"/>
              </a:lnSpc>
              <a:buNone/>
            </a:pPr>
            <a:r>
              <a:rPr lang="en-US" sz="1100" dirty="0">
                <a:solidFill>
                  <a:srgbClr val="3B3F4C"/>
                </a:solidFill>
                <a:latin typeface="Calibri" pitchFamily="34" charset="0"/>
                <a:ea typeface="Calibri" pitchFamily="34" charset="-122"/>
                <a:cs typeface="Calibri" pitchFamily="34" charset="-120"/>
              </a:rPr>
              <a:t>Compensation band for analysis</a:t>
            </a:r>
            <a:endParaRPr lang="en-US" sz="1100" dirty="0"/>
          </a:p>
        </p:txBody>
      </p:sp>
      <p:sp>
        <p:nvSpPr>
          <p:cNvPr id="16" name="Shape 14"/>
          <p:cNvSpPr/>
          <p:nvPr/>
        </p:nvSpPr>
        <p:spPr>
          <a:xfrm>
            <a:off x="4059936" y="2395728"/>
            <a:ext cx="3401568" cy="868680"/>
          </a:xfrm>
          <a:prstGeom prst="roundRect">
            <a:avLst>
              <a:gd name="adj" fmla="val 7368"/>
            </a:avLst>
          </a:prstGeom>
          <a:solidFill>
            <a:srgbClr val="F7F8FC"/>
          </a:solidFill>
          <a:ln/>
        </p:spPr>
      </p:sp>
      <p:sp>
        <p:nvSpPr>
          <p:cNvPr id="17" name="Text 15"/>
          <p:cNvSpPr txBox="1"/>
          <p:nvPr/>
        </p:nvSpPr>
        <p:spPr>
          <a:xfrm>
            <a:off x="4224528" y="2487168"/>
            <a:ext cx="3072384" cy="292608"/>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Job Satisfaction</a:t>
            </a:r>
            <a:endParaRPr lang="en-US" sz="1300" dirty="0"/>
          </a:p>
        </p:txBody>
      </p:sp>
      <p:sp>
        <p:nvSpPr>
          <p:cNvPr id="18" name="Text 16"/>
          <p:cNvSpPr txBox="1"/>
          <p:nvPr/>
        </p:nvSpPr>
        <p:spPr>
          <a:xfrm>
            <a:off x="4224528" y="2779776"/>
            <a:ext cx="3072384" cy="438912"/>
          </a:xfrm>
          <a:prstGeom prst="rect">
            <a:avLst/>
          </a:prstGeom>
          <a:noFill/>
          <a:ln/>
        </p:spPr>
        <p:txBody>
          <a:bodyPr wrap="square" lIns="0" tIns="0" rIns="0" bIns="0" rtlCol="0" anchor="ctr"/>
          <a:lstStyle/>
          <a:p>
            <a:pPr indent="0" marL="0">
              <a:lnSpc>
                <a:spcPct val="110000"/>
              </a:lnSpc>
              <a:buNone/>
            </a:pPr>
            <a:r>
              <a:rPr lang="en-US" sz="1100" dirty="0">
                <a:solidFill>
                  <a:srgbClr val="3B3F4C"/>
                </a:solidFill>
                <a:latin typeface="Calibri" pitchFamily="34" charset="0"/>
                <a:ea typeface="Calibri" pitchFamily="34" charset="-122"/>
                <a:cs typeface="Calibri" pitchFamily="34" charset="-120"/>
              </a:rPr>
              <a:t>Self-reported engagement score</a:t>
            </a:r>
            <a:endParaRPr lang="en-US" sz="1100" dirty="0"/>
          </a:p>
        </p:txBody>
      </p:sp>
      <p:sp>
        <p:nvSpPr>
          <p:cNvPr id="19" name="Shape 17"/>
          <p:cNvSpPr/>
          <p:nvPr/>
        </p:nvSpPr>
        <p:spPr>
          <a:xfrm>
            <a:off x="7571232" y="2395728"/>
            <a:ext cx="3401568" cy="868680"/>
          </a:xfrm>
          <a:prstGeom prst="roundRect">
            <a:avLst>
              <a:gd name="adj" fmla="val 7368"/>
            </a:avLst>
          </a:prstGeom>
          <a:solidFill>
            <a:srgbClr val="F7F8FC"/>
          </a:solidFill>
          <a:ln/>
        </p:spPr>
      </p:sp>
      <p:sp>
        <p:nvSpPr>
          <p:cNvPr id="20" name="Text 18"/>
          <p:cNvSpPr txBox="1"/>
          <p:nvPr/>
        </p:nvSpPr>
        <p:spPr>
          <a:xfrm>
            <a:off x="7735824" y="2487168"/>
            <a:ext cx="3072384" cy="292608"/>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Work-Life Balance</a:t>
            </a:r>
            <a:endParaRPr lang="en-US" sz="1300" dirty="0"/>
          </a:p>
        </p:txBody>
      </p:sp>
      <p:sp>
        <p:nvSpPr>
          <p:cNvPr id="21" name="Text 19"/>
          <p:cNvSpPr txBox="1"/>
          <p:nvPr/>
        </p:nvSpPr>
        <p:spPr>
          <a:xfrm>
            <a:off x="7735824" y="2779776"/>
            <a:ext cx="3072384" cy="438912"/>
          </a:xfrm>
          <a:prstGeom prst="rect">
            <a:avLst/>
          </a:prstGeom>
          <a:noFill/>
          <a:ln/>
        </p:spPr>
        <p:txBody>
          <a:bodyPr wrap="square" lIns="0" tIns="0" rIns="0" bIns="0" rtlCol="0" anchor="ctr"/>
          <a:lstStyle/>
          <a:p>
            <a:pPr indent="0" marL="0">
              <a:lnSpc>
                <a:spcPct val="110000"/>
              </a:lnSpc>
              <a:buNone/>
            </a:pPr>
            <a:r>
              <a:rPr lang="en-US" sz="1100" dirty="0">
                <a:solidFill>
                  <a:srgbClr val="3B3F4C"/>
                </a:solidFill>
                <a:latin typeface="Calibri" pitchFamily="34" charset="0"/>
                <a:ea typeface="Calibri" pitchFamily="34" charset="-122"/>
                <a:cs typeface="Calibri" pitchFamily="34" charset="-120"/>
              </a:rPr>
              <a:t>Rated balance level</a:t>
            </a:r>
            <a:endParaRPr lang="en-US" sz="1100" dirty="0"/>
          </a:p>
        </p:txBody>
      </p:sp>
      <p:sp>
        <p:nvSpPr>
          <p:cNvPr id="22" name="Shape 20"/>
          <p:cNvSpPr/>
          <p:nvPr/>
        </p:nvSpPr>
        <p:spPr>
          <a:xfrm>
            <a:off x="548640" y="3374136"/>
            <a:ext cx="3401568" cy="868680"/>
          </a:xfrm>
          <a:prstGeom prst="roundRect">
            <a:avLst>
              <a:gd name="adj" fmla="val 7368"/>
            </a:avLst>
          </a:prstGeom>
          <a:solidFill>
            <a:srgbClr val="F7F8FC"/>
          </a:solidFill>
          <a:ln/>
        </p:spPr>
      </p:sp>
      <p:sp>
        <p:nvSpPr>
          <p:cNvPr id="23" name="Text 21"/>
          <p:cNvSpPr txBox="1"/>
          <p:nvPr/>
        </p:nvSpPr>
        <p:spPr>
          <a:xfrm>
            <a:off x="713232" y="3465576"/>
            <a:ext cx="3072384" cy="292608"/>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Years at Company</a:t>
            </a:r>
            <a:endParaRPr lang="en-US" sz="1300" dirty="0"/>
          </a:p>
        </p:txBody>
      </p:sp>
      <p:sp>
        <p:nvSpPr>
          <p:cNvPr id="24" name="Text 22"/>
          <p:cNvSpPr txBox="1"/>
          <p:nvPr/>
        </p:nvSpPr>
        <p:spPr>
          <a:xfrm>
            <a:off x="713232" y="3758184"/>
            <a:ext cx="3072384" cy="438912"/>
          </a:xfrm>
          <a:prstGeom prst="rect">
            <a:avLst/>
          </a:prstGeom>
          <a:noFill/>
          <a:ln/>
        </p:spPr>
        <p:txBody>
          <a:bodyPr wrap="square" lIns="0" tIns="0" rIns="0" bIns="0" rtlCol="0" anchor="ctr"/>
          <a:lstStyle/>
          <a:p>
            <a:pPr indent="0" marL="0">
              <a:lnSpc>
                <a:spcPct val="110000"/>
              </a:lnSpc>
              <a:buNone/>
            </a:pPr>
            <a:r>
              <a:rPr lang="en-US" sz="1100" dirty="0">
                <a:solidFill>
                  <a:srgbClr val="3B3F4C"/>
                </a:solidFill>
                <a:latin typeface="Calibri" pitchFamily="34" charset="0"/>
                <a:ea typeface="Calibri" pitchFamily="34" charset="-122"/>
                <a:cs typeface="Calibri" pitchFamily="34" charset="-120"/>
              </a:rPr>
              <a:t>Tenure for temporal analysis</a:t>
            </a:r>
            <a:endParaRPr lang="en-US" sz="1100" dirty="0"/>
          </a:p>
        </p:txBody>
      </p:sp>
      <p:sp>
        <p:nvSpPr>
          <p:cNvPr id="25" name="Shape 23"/>
          <p:cNvSpPr/>
          <p:nvPr/>
        </p:nvSpPr>
        <p:spPr>
          <a:xfrm>
            <a:off x="4059936" y="3374136"/>
            <a:ext cx="3401568" cy="868680"/>
          </a:xfrm>
          <a:prstGeom prst="roundRect">
            <a:avLst>
              <a:gd name="adj" fmla="val 7368"/>
            </a:avLst>
          </a:prstGeom>
          <a:solidFill>
            <a:srgbClr val="F7F8FC"/>
          </a:solidFill>
          <a:ln/>
        </p:spPr>
      </p:sp>
      <p:sp>
        <p:nvSpPr>
          <p:cNvPr id="26" name="Text 24"/>
          <p:cNvSpPr txBox="1"/>
          <p:nvPr/>
        </p:nvSpPr>
        <p:spPr>
          <a:xfrm>
            <a:off x="4224528" y="3465576"/>
            <a:ext cx="3072384" cy="292608"/>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Overtime &amp; Performance</a:t>
            </a:r>
            <a:endParaRPr lang="en-US" sz="1300" dirty="0"/>
          </a:p>
        </p:txBody>
      </p:sp>
      <p:sp>
        <p:nvSpPr>
          <p:cNvPr id="27" name="Text 25"/>
          <p:cNvSpPr txBox="1"/>
          <p:nvPr/>
        </p:nvSpPr>
        <p:spPr>
          <a:xfrm>
            <a:off x="4224528" y="3758184"/>
            <a:ext cx="3072384" cy="438912"/>
          </a:xfrm>
          <a:prstGeom prst="rect">
            <a:avLst/>
          </a:prstGeom>
          <a:noFill/>
          <a:ln/>
        </p:spPr>
        <p:txBody>
          <a:bodyPr wrap="square" lIns="0" tIns="0" rIns="0" bIns="0" rtlCol="0" anchor="ctr"/>
          <a:lstStyle/>
          <a:p>
            <a:pPr indent="0" marL="0">
              <a:lnSpc>
                <a:spcPct val="110000"/>
              </a:lnSpc>
              <a:buNone/>
            </a:pPr>
            <a:r>
              <a:rPr lang="en-US" sz="1100" dirty="0">
                <a:solidFill>
                  <a:srgbClr val="3B3F4C"/>
                </a:solidFill>
                <a:latin typeface="Calibri" pitchFamily="34" charset="0"/>
                <a:ea typeface="Calibri" pitchFamily="34" charset="-122"/>
                <a:cs typeface="Calibri" pitchFamily="34" charset="-120"/>
              </a:rPr>
              <a:t>Workload and rating metrics</a:t>
            </a:r>
            <a:endParaRPr lang="en-US" sz="1100" dirty="0"/>
          </a:p>
        </p:txBody>
      </p:sp>
      <p:sp>
        <p:nvSpPr>
          <p:cNvPr id="28" name="Shape 26"/>
          <p:cNvSpPr/>
          <p:nvPr/>
        </p:nvSpPr>
        <p:spPr>
          <a:xfrm>
            <a:off x="7571232" y="3374136"/>
            <a:ext cx="3401568" cy="868680"/>
          </a:xfrm>
          <a:prstGeom prst="roundRect">
            <a:avLst>
              <a:gd name="adj" fmla="val 7368"/>
            </a:avLst>
          </a:prstGeom>
          <a:solidFill>
            <a:srgbClr val="F7F8FC"/>
          </a:solidFill>
          <a:ln/>
        </p:spPr>
      </p:sp>
      <p:sp>
        <p:nvSpPr>
          <p:cNvPr id="29" name="Text 27"/>
          <p:cNvSpPr txBox="1"/>
          <p:nvPr/>
        </p:nvSpPr>
        <p:spPr>
          <a:xfrm>
            <a:off x="7735824" y="3465576"/>
            <a:ext cx="3072384" cy="292608"/>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Attrition (Yes/No)</a:t>
            </a:r>
            <a:endParaRPr lang="en-US" sz="1300" dirty="0"/>
          </a:p>
        </p:txBody>
      </p:sp>
      <p:sp>
        <p:nvSpPr>
          <p:cNvPr id="30" name="Text 28"/>
          <p:cNvSpPr txBox="1"/>
          <p:nvPr/>
        </p:nvSpPr>
        <p:spPr>
          <a:xfrm>
            <a:off x="7735824" y="3758184"/>
            <a:ext cx="3072384" cy="438912"/>
          </a:xfrm>
          <a:prstGeom prst="rect">
            <a:avLst/>
          </a:prstGeom>
          <a:noFill/>
          <a:ln/>
        </p:spPr>
        <p:txBody>
          <a:bodyPr wrap="square" lIns="0" tIns="0" rIns="0" bIns="0" rtlCol="0" anchor="ctr"/>
          <a:lstStyle/>
          <a:p>
            <a:pPr indent="0" marL="0">
              <a:lnSpc>
                <a:spcPct val="110000"/>
              </a:lnSpc>
              <a:buNone/>
            </a:pPr>
            <a:r>
              <a:rPr lang="en-US" sz="1100" dirty="0">
                <a:solidFill>
                  <a:srgbClr val="3B3F4C"/>
                </a:solidFill>
                <a:latin typeface="Calibri" pitchFamily="34" charset="0"/>
                <a:ea typeface="Calibri" pitchFamily="34" charset="-122"/>
                <a:cs typeface="Calibri" pitchFamily="34" charset="-120"/>
              </a:rPr>
              <a:t>Target variable for prediction</a:t>
            </a:r>
            <a:endParaRPr lang="en-US" sz="1100" dirty="0"/>
          </a:p>
        </p:txBody>
      </p:sp>
      <p:sp>
        <p:nvSpPr>
          <p:cNvPr id="31" name="Text 29"/>
          <p:cNvSpPr txBox="1"/>
          <p:nvPr/>
        </p:nvSpPr>
        <p:spPr>
          <a:xfrm>
            <a:off x="548640" y="4617720"/>
            <a:ext cx="5486400" cy="292608"/>
          </a:xfrm>
          <a:prstGeom prst="rect">
            <a:avLst/>
          </a:prstGeom>
          <a:noFill/>
          <a:ln/>
        </p:spPr>
        <p:txBody>
          <a:bodyPr wrap="square" rtlCol="0" anchor="ctr"/>
          <a:lstStyle/>
          <a:p>
            <a:pPr indent="0" marL="0">
              <a:buNone/>
            </a:pPr>
            <a:r>
              <a:rPr lang="en-US" sz="1300" i="1" dirty="0">
                <a:solidFill>
                  <a:srgbClr val="3B3F4C"/>
                </a:solidFill>
                <a:latin typeface="Calibri" pitchFamily="34" charset="0"/>
                <a:ea typeface="Calibri" pitchFamily="34" charset="-122"/>
                <a:cs typeface="Calibri" pitchFamily="34" charset="-120"/>
              </a:rPr>
              <a:t>Typical preprocessing flow:</a:t>
            </a:r>
            <a:endParaRPr lang="en-US" sz="1300" dirty="0"/>
          </a:p>
        </p:txBody>
      </p:sp>
      <p:sp>
        <p:nvSpPr>
          <p:cNvPr id="32" name="Shape 30"/>
          <p:cNvSpPr/>
          <p:nvPr/>
        </p:nvSpPr>
        <p:spPr>
          <a:xfrm>
            <a:off x="548640" y="5074920"/>
            <a:ext cx="777240" cy="777240"/>
          </a:xfrm>
          <a:prstGeom prst="ellipse">
            <a:avLst/>
          </a:prstGeom>
          <a:solidFill>
            <a:srgbClr val="1E2761"/>
          </a:solidFill>
          <a:ln/>
        </p:spPr>
      </p:sp>
      <p:sp>
        <p:nvSpPr>
          <p:cNvPr id="33" name="Text 31"/>
          <p:cNvSpPr/>
          <p:nvPr/>
        </p:nvSpPr>
        <p:spPr>
          <a:xfrm>
            <a:off x="548640" y="5074920"/>
            <a:ext cx="777240" cy="7772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34" name="Text 32"/>
          <p:cNvSpPr txBox="1"/>
          <p:nvPr/>
        </p:nvSpPr>
        <p:spPr>
          <a:xfrm>
            <a:off x="228600" y="5907024"/>
            <a:ext cx="1417320" cy="457200"/>
          </a:xfrm>
          <a:prstGeom prst="rect">
            <a:avLst/>
          </a:prstGeom>
          <a:noFill/>
          <a:ln/>
        </p:spPr>
        <p:txBody>
          <a:bodyPr wrap="square" rtlCol="0" anchor="ctr"/>
          <a:lstStyle/>
          <a:p>
            <a:pPr algn="ctr" indent="0" marL="0">
              <a:lnSpc>
                <a:spcPct val="100000"/>
              </a:lnSpc>
              <a:buNone/>
            </a:pPr>
            <a:r>
              <a:rPr lang="en-US" sz="1050" b="1" dirty="0">
                <a:solidFill>
                  <a:srgbClr val="3B3F4C"/>
                </a:solidFill>
                <a:latin typeface="Calibri" pitchFamily="34" charset="0"/>
                <a:ea typeface="Calibri" pitchFamily="34" charset="-122"/>
                <a:cs typeface="Calibri" pitchFamily="34" charset="-120"/>
              </a:rPr>
              <a:t>Data</a:t>
            </a:r>
            <a:endParaRPr lang="en-US" sz="1050" dirty="0"/>
          </a:p>
          <a:p>
            <a:pPr algn="ctr" indent="0" marL="0">
              <a:lnSpc>
                <a:spcPct val="100000"/>
              </a:lnSpc>
              <a:buNone/>
            </a:pPr>
            <a:r>
              <a:rPr lang="en-US" sz="1050" b="1" dirty="0">
                <a:solidFill>
                  <a:srgbClr val="3B3F4C"/>
                </a:solidFill>
                <a:latin typeface="Calibri" pitchFamily="34" charset="0"/>
                <a:ea typeface="Calibri" pitchFamily="34" charset="-122"/>
                <a:cs typeface="Calibri" pitchFamily="34" charset="-120"/>
              </a:rPr>
              <a:t>Collection</a:t>
            </a:r>
            <a:endParaRPr lang="en-US" sz="1050" dirty="0"/>
          </a:p>
        </p:txBody>
      </p:sp>
      <p:sp>
        <p:nvSpPr>
          <p:cNvPr id="35" name="Shape 33"/>
          <p:cNvSpPr/>
          <p:nvPr/>
        </p:nvSpPr>
        <p:spPr>
          <a:xfrm>
            <a:off x="1325880" y="5463540"/>
            <a:ext cx="1216152" cy="0"/>
          </a:xfrm>
          <a:prstGeom prst="line">
            <a:avLst/>
          </a:prstGeom>
          <a:noFill/>
          <a:ln w="19050">
            <a:solidFill>
              <a:srgbClr val="C7CCD8"/>
            </a:solidFill>
            <a:prstDash val="dash"/>
          </a:ln>
        </p:spPr>
      </p:sp>
      <p:sp>
        <p:nvSpPr>
          <p:cNvPr id="36" name="Shape 34"/>
          <p:cNvSpPr/>
          <p:nvPr/>
        </p:nvSpPr>
        <p:spPr>
          <a:xfrm>
            <a:off x="2542032" y="5074920"/>
            <a:ext cx="777240" cy="777240"/>
          </a:xfrm>
          <a:prstGeom prst="ellipse">
            <a:avLst/>
          </a:prstGeom>
          <a:solidFill>
            <a:srgbClr val="E8871E"/>
          </a:solidFill>
          <a:ln/>
        </p:spPr>
      </p:sp>
      <p:sp>
        <p:nvSpPr>
          <p:cNvPr id="37" name="Text 35"/>
          <p:cNvSpPr/>
          <p:nvPr/>
        </p:nvSpPr>
        <p:spPr>
          <a:xfrm>
            <a:off x="2542032" y="5074920"/>
            <a:ext cx="777240" cy="7772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38" name="Text 36"/>
          <p:cNvSpPr txBox="1"/>
          <p:nvPr/>
        </p:nvSpPr>
        <p:spPr>
          <a:xfrm>
            <a:off x="2221992" y="5907024"/>
            <a:ext cx="1417320" cy="457200"/>
          </a:xfrm>
          <a:prstGeom prst="rect">
            <a:avLst/>
          </a:prstGeom>
          <a:noFill/>
          <a:ln/>
        </p:spPr>
        <p:txBody>
          <a:bodyPr wrap="square" rtlCol="0" anchor="ctr"/>
          <a:lstStyle/>
          <a:p>
            <a:pPr algn="ctr" indent="0" marL="0">
              <a:lnSpc>
                <a:spcPct val="100000"/>
              </a:lnSpc>
              <a:buNone/>
            </a:pPr>
            <a:r>
              <a:rPr lang="en-US" sz="1050" b="1" dirty="0">
                <a:solidFill>
                  <a:srgbClr val="3B3F4C"/>
                </a:solidFill>
                <a:latin typeface="Calibri" pitchFamily="34" charset="0"/>
                <a:ea typeface="Calibri" pitchFamily="34" charset="-122"/>
                <a:cs typeface="Calibri" pitchFamily="34" charset="-120"/>
              </a:rPr>
              <a:t>Data</a:t>
            </a:r>
            <a:endParaRPr lang="en-US" sz="1050" dirty="0"/>
          </a:p>
          <a:p>
            <a:pPr algn="ctr" indent="0" marL="0">
              <a:lnSpc>
                <a:spcPct val="100000"/>
              </a:lnSpc>
              <a:buNone/>
            </a:pPr>
            <a:r>
              <a:rPr lang="en-US" sz="1050" b="1" dirty="0">
                <a:solidFill>
                  <a:srgbClr val="3B3F4C"/>
                </a:solidFill>
                <a:latin typeface="Calibri" pitchFamily="34" charset="0"/>
                <a:ea typeface="Calibri" pitchFamily="34" charset="-122"/>
                <a:cs typeface="Calibri" pitchFamily="34" charset="-120"/>
              </a:rPr>
              <a:t>Cleaning</a:t>
            </a:r>
            <a:endParaRPr lang="en-US" sz="1050" dirty="0"/>
          </a:p>
        </p:txBody>
      </p:sp>
      <p:sp>
        <p:nvSpPr>
          <p:cNvPr id="39" name="Shape 37"/>
          <p:cNvSpPr/>
          <p:nvPr/>
        </p:nvSpPr>
        <p:spPr>
          <a:xfrm>
            <a:off x="3319272" y="5463540"/>
            <a:ext cx="1216152" cy="0"/>
          </a:xfrm>
          <a:prstGeom prst="line">
            <a:avLst/>
          </a:prstGeom>
          <a:noFill/>
          <a:ln w="19050">
            <a:solidFill>
              <a:srgbClr val="C7CCD8"/>
            </a:solidFill>
            <a:prstDash val="dash"/>
          </a:ln>
        </p:spPr>
      </p:sp>
      <p:sp>
        <p:nvSpPr>
          <p:cNvPr id="40" name="Shape 38"/>
          <p:cNvSpPr/>
          <p:nvPr/>
        </p:nvSpPr>
        <p:spPr>
          <a:xfrm>
            <a:off x="4535424" y="5074920"/>
            <a:ext cx="777240" cy="777240"/>
          </a:xfrm>
          <a:prstGeom prst="ellipse">
            <a:avLst/>
          </a:prstGeom>
          <a:solidFill>
            <a:srgbClr val="1E2761"/>
          </a:solidFill>
          <a:ln/>
        </p:spPr>
      </p:sp>
      <p:sp>
        <p:nvSpPr>
          <p:cNvPr id="41" name="Text 39"/>
          <p:cNvSpPr/>
          <p:nvPr/>
        </p:nvSpPr>
        <p:spPr>
          <a:xfrm>
            <a:off x="4535424" y="5074920"/>
            <a:ext cx="777240" cy="7772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42" name="Text 40"/>
          <p:cNvSpPr txBox="1"/>
          <p:nvPr/>
        </p:nvSpPr>
        <p:spPr>
          <a:xfrm>
            <a:off x="4215384" y="5907024"/>
            <a:ext cx="1417320" cy="457200"/>
          </a:xfrm>
          <a:prstGeom prst="rect">
            <a:avLst/>
          </a:prstGeom>
          <a:noFill/>
          <a:ln/>
        </p:spPr>
        <p:txBody>
          <a:bodyPr wrap="square" rtlCol="0" anchor="ctr"/>
          <a:lstStyle/>
          <a:p>
            <a:pPr algn="ctr" indent="0" marL="0">
              <a:lnSpc>
                <a:spcPct val="100000"/>
              </a:lnSpc>
              <a:buNone/>
            </a:pPr>
            <a:r>
              <a:rPr lang="en-US" sz="1050" b="1" dirty="0">
                <a:solidFill>
                  <a:srgbClr val="3B3F4C"/>
                </a:solidFill>
                <a:latin typeface="Calibri" pitchFamily="34" charset="0"/>
                <a:ea typeface="Calibri" pitchFamily="34" charset="-122"/>
                <a:cs typeface="Calibri" pitchFamily="34" charset="-120"/>
              </a:rPr>
              <a:t>Missing Value</a:t>
            </a:r>
            <a:endParaRPr lang="en-US" sz="1050" dirty="0"/>
          </a:p>
          <a:p>
            <a:pPr algn="ctr" indent="0" marL="0">
              <a:lnSpc>
                <a:spcPct val="100000"/>
              </a:lnSpc>
              <a:buNone/>
            </a:pPr>
            <a:r>
              <a:rPr lang="en-US" sz="1050" b="1" dirty="0">
                <a:solidFill>
                  <a:srgbClr val="3B3F4C"/>
                </a:solidFill>
                <a:latin typeface="Calibri" pitchFamily="34" charset="0"/>
                <a:ea typeface="Calibri" pitchFamily="34" charset="-122"/>
                <a:cs typeface="Calibri" pitchFamily="34" charset="-120"/>
              </a:rPr>
              <a:t>Handling</a:t>
            </a:r>
            <a:endParaRPr lang="en-US" sz="1050" dirty="0"/>
          </a:p>
        </p:txBody>
      </p:sp>
      <p:sp>
        <p:nvSpPr>
          <p:cNvPr id="43" name="Shape 41"/>
          <p:cNvSpPr/>
          <p:nvPr/>
        </p:nvSpPr>
        <p:spPr>
          <a:xfrm>
            <a:off x="5312664" y="5463540"/>
            <a:ext cx="1216152" cy="0"/>
          </a:xfrm>
          <a:prstGeom prst="line">
            <a:avLst/>
          </a:prstGeom>
          <a:noFill/>
          <a:ln w="19050">
            <a:solidFill>
              <a:srgbClr val="C7CCD8"/>
            </a:solidFill>
            <a:prstDash val="dash"/>
          </a:ln>
        </p:spPr>
      </p:sp>
      <p:sp>
        <p:nvSpPr>
          <p:cNvPr id="44" name="Shape 42"/>
          <p:cNvSpPr/>
          <p:nvPr/>
        </p:nvSpPr>
        <p:spPr>
          <a:xfrm>
            <a:off x="6528816" y="5074920"/>
            <a:ext cx="777240" cy="777240"/>
          </a:xfrm>
          <a:prstGeom prst="ellipse">
            <a:avLst/>
          </a:prstGeom>
          <a:solidFill>
            <a:srgbClr val="E8871E"/>
          </a:solidFill>
          <a:ln/>
        </p:spPr>
      </p:sp>
      <p:sp>
        <p:nvSpPr>
          <p:cNvPr id="45" name="Text 43"/>
          <p:cNvSpPr/>
          <p:nvPr/>
        </p:nvSpPr>
        <p:spPr>
          <a:xfrm>
            <a:off x="6528816" y="5074920"/>
            <a:ext cx="777240" cy="7772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46" name="Text 44"/>
          <p:cNvSpPr txBox="1"/>
          <p:nvPr/>
        </p:nvSpPr>
        <p:spPr>
          <a:xfrm>
            <a:off x="6208776" y="5907024"/>
            <a:ext cx="1417320" cy="457200"/>
          </a:xfrm>
          <a:prstGeom prst="rect">
            <a:avLst/>
          </a:prstGeom>
          <a:noFill/>
          <a:ln/>
        </p:spPr>
        <p:txBody>
          <a:bodyPr wrap="square" rtlCol="0" anchor="ctr"/>
          <a:lstStyle/>
          <a:p>
            <a:pPr algn="ctr" indent="0" marL="0">
              <a:lnSpc>
                <a:spcPct val="100000"/>
              </a:lnSpc>
              <a:buNone/>
            </a:pPr>
            <a:r>
              <a:rPr lang="en-US" sz="1050" b="1" dirty="0">
                <a:solidFill>
                  <a:srgbClr val="3B3F4C"/>
                </a:solidFill>
                <a:latin typeface="Calibri" pitchFamily="34" charset="0"/>
                <a:ea typeface="Calibri" pitchFamily="34" charset="-122"/>
                <a:cs typeface="Calibri" pitchFamily="34" charset="-120"/>
              </a:rPr>
              <a:t>Data</a:t>
            </a:r>
            <a:endParaRPr lang="en-US" sz="1050" dirty="0"/>
          </a:p>
          <a:p>
            <a:pPr algn="ctr" indent="0" marL="0">
              <a:lnSpc>
                <a:spcPct val="100000"/>
              </a:lnSpc>
              <a:buNone/>
            </a:pPr>
            <a:r>
              <a:rPr lang="en-US" sz="1050" b="1" dirty="0">
                <a:solidFill>
                  <a:srgbClr val="3B3F4C"/>
                </a:solidFill>
                <a:latin typeface="Calibri" pitchFamily="34" charset="0"/>
                <a:ea typeface="Calibri" pitchFamily="34" charset="-122"/>
                <a:cs typeface="Calibri" pitchFamily="34" charset="-120"/>
              </a:rPr>
              <a:t>Transformation</a:t>
            </a:r>
            <a:endParaRPr lang="en-US" sz="1050" dirty="0"/>
          </a:p>
        </p:txBody>
      </p:sp>
      <p:sp>
        <p:nvSpPr>
          <p:cNvPr id="47" name="Shape 45"/>
          <p:cNvSpPr/>
          <p:nvPr/>
        </p:nvSpPr>
        <p:spPr>
          <a:xfrm>
            <a:off x="7306056" y="5463540"/>
            <a:ext cx="1216152" cy="0"/>
          </a:xfrm>
          <a:prstGeom prst="line">
            <a:avLst/>
          </a:prstGeom>
          <a:noFill/>
          <a:ln w="19050">
            <a:solidFill>
              <a:srgbClr val="C7CCD8"/>
            </a:solidFill>
            <a:prstDash val="dash"/>
          </a:ln>
        </p:spPr>
      </p:sp>
      <p:sp>
        <p:nvSpPr>
          <p:cNvPr id="48" name="Shape 46"/>
          <p:cNvSpPr/>
          <p:nvPr/>
        </p:nvSpPr>
        <p:spPr>
          <a:xfrm>
            <a:off x="8522208" y="5074920"/>
            <a:ext cx="777240" cy="777240"/>
          </a:xfrm>
          <a:prstGeom prst="ellipse">
            <a:avLst/>
          </a:prstGeom>
          <a:solidFill>
            <a:srgbClr val="1E2761"/>
          </a:solidFill>
          <a:ln/>
        </p:spPr>
      </p:sp>
      <p:sp>
        <p:nvSpPr>
          <p:cNvPr id="49" name="Text 47"/>
          <p:cNvSpPr/>
          <p:nvPr/>
        </p:nvSpPr>
        <p:spPr>
          <a:xfrm>
            <a:off x="8522208" y="5074920"/>
            <a:ext cx="777240" cy="7772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50" name="Text 48"/>
          <p:cNvSpPr txBox="1"/>
          <p:nvPr/>
        </p:nvSpPr>
        <p:spPr>
          <a:xfrm>
            <a:off x="8202168" y="5907024"/>
            <a:ext cx="1417320" cy="457200"/>
          </a:xfrm>
          <a:prstGeom prst="rect">
            <a:avLst/>
          </a:prstGeom>
          <a:noFill/>
          <a:ln/>
        </p:spPr>
        <p:txBody>
          <a:bodyPr wrap="square" rtlCol="0" anchor="ctr"/>
          <a:lstStyle/>
          <a:p>
            <a:pPr algn="ctr" indent="0" marL="0">
              <a:lnSpc>
                <a:spcPct val="100000"/>
              </a:lnSpc>
              <a:buNone/>
            </a:pPr>
            <a:r>
              <a:rPr lang="en-US" sz="1050" b="1" dirty="0">
                <a:solidFill>
                  <a:srgbClr val="3B3F4C"/>
                </a:solidFill>
                <a:latin typeface="Calibri" pitchFamily="34" charset="0"/>
                <a:ea typeface="Calibri" pitchFamily="34" charset="-122"/>
                <a:cs typeface="Calibri" pitchFamily="34" charset="-120"/>
              </a:rPr>
              <a:t>Data</a:t>
            </a:r>
            <a:endParaRPr lang="en-US" sz="1050" dirty="0"/>
          </a:p>
          <a:p>
            <a:pPr algn="ctr" indent="0" marL="0">
              <a:lnSpc>
                <a:spcPct val="100000"/>
              </a:lnSpc>
              <a:buNone/>
            </a:pPr>
            <a:r>
              <a:rPr lang="en-US" sz="1050" b="1" dirty="0">
                <a:solidFill>
                  <a:srgbClr val="3B3F4C"/>
                </a:solidFill>
                <a:latin typeface="Calibri" pitchFamily="34" charset="0"/>
                <a:ea typeface="Calibri" pitchFamily="34" charset="-122"/>
                <a:cs typeface="Calibri" pitchFamily="34" charset="-120"/>
              </a:rPr>
              <a:t>Analysis</a:t>
            </a:r>
            <a:endParaRPr lang="en-US" sz="1050" dirty="0"/>
          </a:p>
        </p:txBody>
      </p:sp>
      <p:sp>
        <p:nvSpPr>
          <p:cNvPr id="51" name="Text 49"/>
          <p:cNvSpPr/>
          <p:nvPr/>
        </p:nvSpPr>
        <p:spPr>
          <a:xfrm>
            <a:off x="11521440" y="6446520"/>
            <a:ext cx="457200" cy="320040"/>
          </a:xfrm>
          <a:prstGeom prst="rect">
            <a:avLst/>
          </a:prstGeom>
          <a:noFill/>
          <a:ln/>
        </p:spPr>
        <p:txBody>
          <a:bodyPr wrap="square" rtlCol="0" anchor="ctr"/>
          <a:lstStyle/>
          <a:p>
            <a:pPr algn="r" indent="0" marL="0">
              <a:buNone/>
            </a:pPr>
            <a:r>
              <a:rPr lang="en-US" sz="1000" dirty="0">
                <a:solidFill>
                  <a:srgbClr val="9AA3B2"/>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0058400" cy="54864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Exploratory Data Analysis (EDA)</a:t>
            </a:r>
            <a:endParaRPr lang="en-US" sz="3000" dirty="0"/>
          </a:p>
        </p:txBody>
      </p:sp>
      <p:sp>
        <p:nvSpPr>
          <p:cNvPr id="3" name="Text 1"/>
          <p:cNvSpPr txBox="1"/>
          <p:nvPr/>
        </p:nvSpPr>
        <p:spPr>
          <a:xfrm>
            <a:off x="548640" y="1005840"/>
            <a:ext cx="9144000" cy="320040"/>
          </a:xfrm>
          <a:prstGeom prst="rect">
            <a:avLst/>
          </a:prstGeom>
          <a:noFill/>
          <a:ln/>
        </p:spPr>
        <p:txBody>
          <a:bodyPr wrap="square" rtlCol="0" anchor="ctr"/>
          <a:lstStyle/>
          <a:p>
            <a:pPr indent="0" marL="0">
              <a:buNone/>
            </a:pPr>
            <a:r>
              <a:rPr lang="en-US" sz="1300" i="1" dirty="0">
                <a:solidFill>
                  <a:srgbClr val="3B3F4C"/>
                </a:solidFill>
                <a:latin typeface="Calibri" pitchFamily="34" charset="0"/>
                <a:ea typeface="Calibri" pitchFamily="34" charset="-122"/>
                <a:cs typeface="Calibri" pitchFamily="34" charset="-120"/>
              </a:rPr>
              <a:t>EDA focuses on summarizing distributions and relationships:</a:t>
            </a:r>
            <a:endParaRPr lang="en-US" sz="1300" dirty="0"/>
          </a:p>
        </p:txBody>
      </p:sp>
      <p:sp>
        <p:nvSpPr>
          <p:cNvPr id="4" name="Shape 2"/>
          <p:cNvSpPr/>
          <p:nvPr/>
        </p:nvSpPr>
        <p:spPr>
          <a:xfrm>
            <a:off x="548640" y="1463040"/>
            <a:ext cx="2011680" cy="1737360"/>
          </a:xfrm>
          <a:prstGeom prst="roundRect">
            <a:avLst>
              <a:gd name="adj" fmla="val 4211"/>
            </a:avLst>
          </a:prstGeom>
          <a:solidFill>
            <a:srgbClr val="1E2761"/>
          </a:solidFill>
          <a:ln/>
        </p:spPr>
      </p:sp>
      <p:sp>
        <p:nvSpPr>
          <p:cNvPr id="5" name="Text 3"/>
          <p:cNvSpPr txBox="1"/>
          <p:nvPr/>
        </p:nvSpPr>
        <p:spPr>
          <a:xfrm>
            <a:off x="685800" y="1627632"/>
            <a:ext cx="1737360" cy="5029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Attrition Rate</a:t>
            </a:r>
            <a:endParaRPr lang="en-US" sz="1300" dirty="0"/>
          </a:p>
        </p:txBody>
      </p:sp>
      <p:sp>
        <p:nvSpPr>
          <p:cNvPr id="6" name="Text 4"/>
          <p:cNvSpPr txBox="1"/>
          <p:nvPr/>
        </p:nvSpPr>
        <p:spPr>
          <a:xfrm>
            <a:off x="685800" y="2148840"/>
            <a:ext cx="1737360" cy="914400"/>
          </a:xfrm>
          <a:prstGeom prst="rect">
            <a:avLst/>
          </a:prstGeom>
          <a:noFill/>
          <a:ln/>
        </p:spPr>
        <p:txBody>
          <a:bodyPr wrap="square" lIns="0" tIns="0" rIns="0" bIns="0" rtlCol="0" anchor="ctr"/>
          <a:lstStyle/>
          <a:p>
            <a:pPr indent="0" marL="0">
              <a:lnSpc>
                <a:spcPct val="115000"/>
              </a:lnSpc>
              <a:buNone/>
            </a:pPr>
            <a:r>
              <a:rPr lang="en-US" sz="1050" dirty="0">
                <a:solidFill>
                  <a:srgbClr val="CADCFC"/>
                </a:solidFill>
                <a:latin typeface="Calibri" pitchFamily="34" charset="0"/>
                <a:ea typeface="Calibri" pitchFamily="34" charset="-122"/>
                <a:cs typeface="Calibri" pitchFamily="34" charset="-120"/>
              </a:rPr>
              <a:t>Overall counts by department and job role</a:t>
            </a:r>
            <a:endParaRPr lang="en-US" sz="1050" dirty="0"/>
          </a:p>
        </p:txBody>
      </p:sp>
      <p:sp>
        <p:nvSpPr>
          <p:cNvPr id="7" name="Shape 5"/>
          <p:cNvSpPr/>
          <p:nvPr/>
        </p:nvSpPr>
        <p:spPr>
          <a:xfrm>
            <a:off x="2688336" y="1463040"/>
            <a:ext cx="2011680" cy="1737360"/>
          </a:xfrm>
          <a:prstGeom prst="roundRect">
            <a:avLst>
              <a:gd name="adj" fmla="val 4211"/>
            </a:avLst>
          </a:prstGeom>
          <a:solidFill>
            <a:srgbClr val="F7F8FC"/>
          </a:solidFill>
          <a:ln/>
        </p:spPr>
      </p:sp>
      <p:sp>
        <p:nvSpPr>
          <p:cNvPr id="8" name="Text 6"/>
          <p:cNvSpPr txBox="1"/>
          <p:nvPr/>
        </p:nvSpPr>
        <p:spPr>
          <a:xfrm>
            <a:off x="2825496" y="1627632"/>
            <a:ext cx="1737360" cy="5029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Causes</a:t>
            </a:r>
            <a:endParaRPr lang="en-US" sz="1300" dirty="0"/>
          </a:p>
        </p:txBody>
      </p:sp>
      <p:sp>
        <p:nvSpPr>
          <p:cNvPr id="9" name="Text 7"/>
          <p:cNvSpPr txBox="1"/>
          <p:nvPr/>
        </p:nvSpPr>
        <p:spPr>
          <a:xfrm>
            <a:off x="2825496" y="2148840"/>
            <a:ext cx="1737360" cy="914400"/>
          </a:xfrm>
          <a:prstGeom prst="rect">
            <a:avLst/>
          </a:prstGeom>
          <a:noFill/>
          <a:ln/>
        </p:spPr>
        <p:txBody>
          <a:bodyPr wrap="square" lIns="0" tIns="0" rIns="0" bIns="0" rtlCol="0" anchor="ctr"/>
          <a:lstStyle/>
          <a:p>
            <a:pPr indent="0" marL="0">
              <a:lnSpc>
                <a:spcPct val="115000"/>
              </a:lnSpc>
              <a:buNone/>
            </a:pPr>
            <a:r>
              <a:rPr lang="en-US" sz="1050" dirty="0">
                <a:solidFill>
                  <a:srgbClr val="3B3F4C"/>
                </a:solidFill>
                <a:latin typeface="Calibri" pitchFamily="34" charset="0"/>
                <a:ea typeface="Calibri" pitchFamily="34" charset="-122"/>
                <a:cs typeface="Calibri" pitchFamily="34" charset="-120"/>
              </a:rPr>
              <a:t>Common contributing factors and combinations</a:t>
            </a:r>
            <a:endParaRPr lang="en-US" sz="1050" dirty="0"/>
          </a:p>
        </p:txBody>
      </p:sp>
      <p:sp>
        <p:nvSpPr>
          <p:cNvPr id="10" name="Shape 8"/>
          <p:cNvSpPr/>
          <p:nvPr/>
        </p:nvSpPr>
        <p:spPr>
          <a:xfrm>
            <a:off x="4828032" y="1463040"/>
            <a:ext cx="2011680" cy="1737360"/>
          </a:xfrm>
          <a:prstGeom prst="roundRect">
            <a:avLst>
              <a:gd name="adj" fmla="val 4211"/>
            </a:avLst>
          </a:prstGeom>
          <a:solidFill>
            <a:srgbClr val="1E2761"/>
          </a:solidFill>
          <a:ln/>
        </p:spPr>
      </p:sp>
      <p:sp>
        <p:nvSpPr>
          <p:cNvPr id="11" name="Text 9"/>
          <p:cNvSpPr txBox="1"/>
          <p:nvPr/>
        </p:nvSpPr>
        <p:spPr>
          <a:xfrm>
            <a:off x="4965192" y="1627632"/>
            <a:ext cx="1737360" cy="5029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Tenure &amp; Age</a:t>
            </a:r>
            <a:endParaRPr lang="en-US" sz="1300" dirty="0"/>
          </a:p>
        </p:txBody>
      </p:sp>
      <p:sp>
        <p:nvSpPr>
          <p:cNvPr id="12" name="Text 10"/>
          <p:cNvSpPr txBox="1"/>
          <p:nvPr/>
        </p:nvSpPr>
        <p:spPr>
          <a:xfrm>
            <a:off x="4965192" y="2148840"/>
            <a:ext cx="1737360" cy="914400"/>
          </a:xfrm>
          <a:prstGeom prst="rect">
            <a:avLst/>
          </a:prstGeom>
          <a:noFill/>
          <a:ln/>
        </p:spPr>
        <p:txBody>
          <a:bodyPr wrap="square" lIns="0" tIns="0" rIns="0" bIns="0" rtlCol="0" anchor="ctr"/>
          <a:lstStyle/>
          <a:p>
            <a:pPr indent="0" marL="0">
              <a:lnSpc>
                <a:spcPct val="115000"/>
              </a:lnSpc>
              <a:buNone/>
            </a:pPr>
            <a:r>
              <a:rPr lang="en-US" sz="1050" dirty="0">
                <a:solidFill>
                  <a:srgbClr val="CADCFC"/>
                </a:solidFill>
                <a:latin typeface="Calibri" pitchFamily="34" charset="0"/>
                <a:ea typeface="Calibri" pitchFamily="34" charset="-122"/>
                <a:cs typeface="Calibri" pitchFamily="34" charset="-120"/>
              </a:rPr>
              <a:t>Early-career vs long-tenure employee risk</a:t>
            </a:r>
            <a:endParaRPr lang="en-US" sz="1050" dirty="0"/>
          </a:p>
        </p:txBody>
      </p:sp>
      <p:sp>
        <p:nvSpPr>
          <p:cNvPr id="13" name="Shape 11"/>
          <p:cNvSpPr/>
          <p:nvPr/>
        </p:nvSpPr>
        <p:spPr>
          <a:xfrm>
            <a:off x="6967728" y="1463040"/>
            <a:ext cx="2011680" cy="1737360"/>
          </a:xfrm>
          <a:prstGeom prst="roundRect">
            <a:avLst>
              <a:gd name="adj" fmla="val 4211"/>
            </a:avLst>
          </a:prstGeom>
          <a:solidFill>
            <a:srgbClr val="F7F8FC"/>
          </a:solidFill>
          <a:ln/>
        </p:spPr>
      </p:sp>
      <p:sp>
        <p:nvSpPr>
          <p:cNvPr id="14" name="Text 12"/>
          <p:cNvSpPr txBox="1"/>
          <p:nvPr/>
        </p:nvSpPr>
        <p:spPr>
          <a:xfrm>
            <a:off x="7104888" y="1627632"/>
            <a:ext cx="1737360" cy="5029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Salary &amp; Satisfaction</a:t>
            </a:r>
            <a:endParaRPr lang="en-US" sz="1300" dirty="0"/>
          </a:p>
        </p:txBody>
      </p:sp>
      <p:sp>
        <p:nvSpPr>
          <p:cNvPr id="15" name="Text 13"/>
          <p:cNvSpPr txBox="1"/>
          <p:nvPr/>
        </p:nvSpPr>
        <p:spPr>
          <a:xfrm>
            <a:off x="7104888" y="2148840"/>
            <a:ext cx="1737360" cy="914400"/>
          </a:xfrm>
          <a:prstGeom prst="rect">
            <a:avLst/>
          </a:prstGeom>
          <a:noFill/>
          <a:ln/>
        </p:spPr>
        <p:txBody>
          <a:bodyPr wrap="square" lIns="0" tIns="0" rIns="0" bIns="0" rtlCol="0" anchor="ctr"/>
          <a:lstStyle/>
          <a:p>
            <a:pPr indent="0" marL="0">
              <a:lnSpc>
                <a:spcPct val="115000"/>
              </a:lnSpc>
              <a:buNone/>
            </a:pPr>
            <a:r>
              <a:rPr lang="en-US" sz="1050" dirty="0">
                <a:solidFill>
                  <a:srgbClr val="3B3F4C"/>
                </a:solidFill>
                <a:latin typeface="Calibri" pitchFamily="34" charset="0"/>
                <a:ea typeface="Calibri" pitchFamily="34" charset="-122"/>
                <a:cs typeface="Calibri" pitchFamily="34" charset="-120"/>
              </a:rPr>
              <a:t>How compensation correlates with attrition</a:t>
            </a:r>
            <a:endParaRPr lang="en-US" sz="1050" dirty="0"/>
          </a:p>
        </p:txBody>
      </p:sp>
      <p:sp>
        <p:nvSpPr>
          <p:cNvPr id="16" name="Shape 14"/>
          <p:cNvSpPr/>
          <p:nvPr/>
        </p:nvSpPr>
        <p:spPr>
          <a:xfrm>
            <a:off x="9107424" y="1463040"/>
            <a:ext cx="2011680" cy="1737360"/>
          </a:xfrm>
          <a:prstGeom prst="roundRect">
            <a:avLst>
              <a:gd name="adj" fmla="val 4211"/>
            </a:avLst>
          </a:prstGeom>
          <a:solidFill>
            <a:srgbClr val="1E2761"/>
          </a:solidFill>
          <a:ln/>
        </p:spPr>
      </p:sp>
      <p:sp>
        <p:nvSpPr>
          <p:cNvPr id="17" name="Text 15"/>
          <p:cNvSpPr txBox="1"/>
          <p:nvPr/>
        </p:nvSpPr>
        <p:spPr>
          <a:xfrm>
            <a:off x="9244584" y="1627632"/>
            <a:ext cx="1737360" cy="5029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Department Analysis</a:t>
            </a:r>
            <a:endParaRPr lang="en-US" sz="1300" dirty="0"/>
          </a:p>
        </p:txBody>
      </p:sp>
      <p:sp>
        <p:nvSpPr>
          <p:cNvPr id="18" name="Text 16"/>
          <p:cNvSpPr txBox="1"/>
          <p:nvPr/>
        </p:nvSpPr>
        <p:spPr>
          <a:xfrm>
            <a:off x="9244584" y="2148840"/>
            <a:ext cx="1737360" cy="914400"/>
          </a:xfrm>
          <a:prstGeom prst="rect">
            <a:avLst/>
          </a:prstGeom>
          <a:noFill/>
          <a:ln/>
        </p:spPr>
        <p:txBody>
          <a:bodyPr wrap="square" lIns="0" tIns="0" rIns="0" bIns="0" rtlCol="0" anchor="ctr"/>
          <a:lstStyle/>
          <a:p>
            <a:pPr indent="0" marL="0">
              <a:lnSpc>
                <a:spcPct val="115000"/>
              </a:lnSpc>
              <a:buNone/>
            </a:pPr>
            <a:r>
              <a:rPr lang="en-US" sz="1050" dirty="0">
                <a:solidFill>
                  <a:srgbClr val="CADCFC"/>
                </a:solidFill>
                <a:latin typeface="Calibri" pitchFamily="34" charset="0"/>
                <a:ea typeface="Calibri" pitchFamily="34" charset="-122"/>
                <a:cs typeface="Calibri" pitchFamily="34" charset="-120"/>
              </a:rPr>
              <a:t>Role and department-level risk detection</a:t>
            </a:r>
            <a:endParaRPr lang="en-US" sz="1050" dirty="0"/>
          </a:p>
        </p:txBody>
      </p:sp>
      <p:sp>
        <p:nvSpPr>
          <p:cNvPr id="19" name="Shape 17"/>
          <p:cNvSpPr/>
          <p:nvPr/>
        </p:nvSpPr>
        <p:spPr>
          <a:xfrm>
            <a:off x="548640" y="3520440"/>
            <a:ext cx="5623560" cy="2468880"/>
          </a:xfrm>
          <a:prstGeom prst="roundRect">
            <a:avLst>
              <a:gd name="adj" fmla="val 2963"/>
            </a:avLst>
          </a:prstGeom>
          <a:solidFill>
            <a:srgbClr val="F7F8FC"/>
          </a:solidFill>
          <a:ln/>
        </p:spPr>
      </p:sp>
      <p:graphicFrame>
        <p:nvGraphicFramePr>
          <p:cNvPr id="20" name="Chart 0" descr=""/>
          <p:cNvGraphicFramePr/>
          <p:nvPr/>
        </p:nvGraphicFramePr>
        <p:xfrm>
          <a:off x="731520" y="3657600"/>
          <a:ext cx="5257800" cy="2194560"/>
        </p:xfrm>
        <a:graphic xmlns:a="http://schemas.openxmlformats.org/drawingml/2006/main">
          <a:graphicData uri="http://schemas.openxmlformats.org/drawingml/2006/chart">
            <c:chart xmlns:c="http://schemas.openxmlformats.org/drawingml/2006/chart" r:id="rId1"/>
          </a:graphicData>
        </a:graphic>
      </p:graphicFrame>
      <p:sp>
        <p:nvSpPr>
          <p:cNvPr id="21" name="Shape 18"/>
          <p:cNvSpPr/>
          <p:nvPr/>
        </p:nvSpPr>
        <p:spPr>
          <a:xfrm>
            <a:off x="6309360" y="3520440"/>
            <a:ext cx="5303520" cy="2468880"/>
          </a:xfrm>
          <a:prstGeom prst="roundRect">
            <a:avLst>
              <a:gd name="adj" fmla="val 2963"/>
            </a:avLst>
          </a:prstGeom>
          <a:solidFill>
            <a:srgbClr val="F7F8FC"/>
          </a:solidFill>
          <a:ln/>
        </p:spPr>
      </p:sp>
      <p:graphicFrame>
        <p:nvGraphicFramePr>
          <p:cNvPr id="22" name="Chart 1" descr=""/>
          <p:cNvGraphicFramePr/>
          <p:nvPr/>
        </p:nvGraphicFramePr>
        <p:xfrm>
          <a:off x="6492240" y="3657600"/>
          <a:ext cx="4937760" cy="2194560"/>
        </p:xfrm>
        <a:graphic xmlns:a="http://schemas.openxmlformats.org/drawingml/2006/main">
          <a:graphicData uri="http://schemas.openxmlformats.org/drawingml/2006/chart">
            <c:chart xmlns:c="http://schemas.openxmlformats.org/drawingml/2006/chart" r:id="rId2"/>
          </a:graphicData>
        </a:graphic>
      </p:graphicFrame>
      <p:sp>
        <p:nvSpPr>
          <p:cNvPr id="23" name="Text 19"/>
          <p:cNvSpPr/>
          <p:nvPr/>
        </p:nvSpPr>
        <p:spPr>
          <a:xfrm>
            <a:off x="11521440" y="6446520"/>
            <a:ext cx="457200" cy="320040"/>
          </a:xfrm>
          <a:prstGeom prst="rect">
            <a:avLst/>
          </a:prstGeom>
          <a:noFill/>
          <a:ln/>
        </p:spPr>
        <p:txBody>
          <a:bodyPr wrap="square" rtlCol="0" anchor="ctr"/>
          <a:lstStyle/>
          <a:p>
            <a:pPr algn="r" indent="0" marL="0">
              <a:buNone/>
            </a:pPr>
            <a:r>
              <a:rPr lang="en-US" sz="1000" dirty="0">
                <a:solidFill>
                  <a:srgbClr val="9AA3B2"/>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0515600" cy="54864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Attrition Trends &amp; Tenure Analysis</a:t>
            </a:r>
            <a:endParaRPr lang="en-US" sz="3000" dirty="0"/>
          </a:p>
        </p:txBody>
      </p:sp>
      <p:sp>
        <p:nvSpPr>
          <p:cNvPr id="3" name="Text 1"/>
          <p:cNvSpPr txBox="1"/>
          <p:nvPr/>
        </p:nvSpPr>
        <p:spPr>
          <a:xfrm>
            <a:off x="548640" y="1051560"/>
            <a:ext cx="10789920" cy="411480"/>
          </a:xfrm>
          <a:prstGeom prst="rect">
            <a:avLst/>
          </a:prstGeom>
          <a:noFill/>
          <a:ln/>
        </p:spPr>
        <p:txBody>
          <a:bodyPr wrap="square" rtlCol="0" anchor="ctr"/>
          <a:lstStyle/>
          <a:p>
            <a:pPr indent="0" marL="0">
              <a:buNone/>
            </a:pPr>
            <a:r>
              <a:rPr lang="en-US" sz="1200" i="1" dirty="0">
                <a:solidFill>
                  <a:srgbClr val="3B3F4C"/>
                </a:solidFill>
                <a:latin typeface="Calibri" pitchFamily="34" charset="0"/>
                <a:ea typeface="Calibri" pitchFamily="34" charset="-122"/>
                <a:cs typeface="Calibri" pitchFamily="34" charset="-120"/>
              </a:rPr>
              <a:t>Illustrative/Sample Data: attrition-rate values by tenure shown below are for demonstration only and do not represent real-world statistics.</a:t>
            </a:r>
            <a:endParaRPr lang="en-US" sz="1200" dirty="0"/>
          </a:p>
        </p:txBody>
      </p:sp>
      <p:sp>
        <p:nvSpPr>
          <p:cNvPr id="4" name="Shape 2"/>
          <p:cNvSpPr/>
          <p:nvPr/>
        </p:nvSpPr>
        <p:spPr>
          <a:xfrm>
            <a:off x="548640" y="1600200"/>
            <a:ext cx="10972800" cy="3566160"/>
          </a:xfrm>
          <a:prstGeom prst="roundRect">
            <a:avLst>
              <a:gd name="adj" fmla="val 2051"/>
            </a:avLst>
          </a:prstGeom>
          <a:solidFill>
            <a:srgbClr val="F7F8FC"/>
          </a:solidFill>
          <a:ln/>
        </p:spPr>
      </p:sp>
      <p:graphicFrame>
        <p:nvGraphicFramePr>
          <p:cNvPr id="5" name="Chart 0" descr=""/>
          <p:cNvGraphicFramePr/>
          <p:nvPr/>
        </p:nvGraphicFramePr>
        <p:xfrm>
          <a:off x="822960" y="1783080"/>
          <a:ext cx="10424160" cy="32004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548640" y="5303520"/>
            <a:ext cx="10972800" cy="548640"/>
          </a:xfrm>
          <a:prstGeom prst="rect">
            <a:avLst/>
          </a:prstGeom>
          <a:noFill/>
          <a:ln/>
        </p:spPr>
        <p:txBody>
          <a:bodyPr wrap="square" rtlCol="0" anchor="ctr"/>
          <a:lstStyle/>
          <a:p>
            <a:pPr indent="0" marL="0">
              <a:lnSpc>
                <a:spcPct val="120000"/>
              </a:lnSpc>
              <a:buNone/>
            </a:pPr>
            <a:r>
              <a:rPr lang="en-US" sz="1250" b="1" dirty="0">
                <a:solidFill>
                  <a:srgbClr val="1E2761"/>
                </a:solidFill>
                <a:latin typeface="Calibri" pitchFamily="34" charset="0"/>
                <a:ea typeface="Calibri" pitchFamily="34" charset="-122"/>
                <a:cs typeface="Calibri" pitchFamily="34" charset="-120"/>
              </a:rPr>
              <a:t>Observations (sample): </a:t>
            </a:r>
            <a:pPr indent="0" marL="0">
              <a:lnSpc>
                <a:spcPct val="120000"/>
              </a:lnSpc>
              <a:buNone/>
            </a:pPr>
            <a:r>
              <a:rPr lang="en-US" sz="1250" dirty="0">
                <a:solidFill>
                  <a:srgbClr val="3B3F4C"/>
                </a:solidFill>
                <a:latin typeface="Calibri" pitchFamily="34" charset="0"/>
                <a:ea typeface="Calibri" pitchFamily="34" charset="-122"/>
                <a:cs typeface="Calibri" pitchFamily="34" charset="-120"/>
              </a:rPr>
              <a:t>attrition risk is highest within the first two years and declines steadily with tenure — a pattern that can guide onboarding and early-engagement interventions.</a:t>
            </a:r>
            <a:endParaRPr lang="en-US" sz="1250" dirty="0"/>
          </a:p>
        </p:txBody>
      </p:sp>
      <p:sp>
        <p:nvSpPr>
          <p:cNvPr id="7" name="Shape 4"/>
          <p:cNvSpPr/>
          <p:nvPr/>
        </p:nvSpPr>
        <p:spPr>
          <a:xfrm>
            <a:off x="548640" y="5989320"/>
            <a:ext cx="10972800" cy="365760"/>
          </a:xfrm>
          <a:prstGeom prst="roundRect">
            <a:avLst>
              <a:gd name="adj" fmla="val 12500"/>
            </a:avLst>
          </a:prstGeom>
          <a:solidFill>
            <a:srgbClr val="CADCFC"/>
          </a:solidFill>
          <a:ln/>
        </p:spPr>
      </p:sp>
      <p:sp>
        <p:nvSpPr>
          <p:cNvPr id="8" name="Text 5"/>
          <p:cNvSpPr txBox="1"/>
          <p:nvPr/>
        </p:nvSpPr>
        <p:spPr>
          <a:xfrm>
            <a:off x="731520" y="5989320"/>
            <a:ext cx="10607040" cy="365760"/>
          </a:xfrm>
          <a:prstGeom prst="rect">
            <a:avLst/>
          </a:prstGeom>
          <a:noFill/>
          <a:ln/>
        </p:spPr>
        <p:txBody>
          <a:bodyPr wrap="square" rtlCol="0" anchor="ctr"/>
          <a:lstStyle/>
          <a:p>
            <a:pPr indent="0" marL="0">
              <a:buNone/>
            </a:pPr>
            <a:r>
              <a:rPr lang="en-US" sz="1050" i="1" dirty="0">
                <a:solidFill>
                  <a:srgbClr val="1E2761"/>
                </a:solidFill>
                <a:latin typeface="Calibri" pitchFamily="34" charset="0"/>
                <a:ea typeface="Calibri" pitchFamily="34" charset="-122"/>
                <a:cs typeface="Calibri" pitchFamily="34" charset="-120"/>
              </a:rPr>
              <a:t>Chart labeled Illustrative/Sample Data — do not treat as real statistics</a:t>
            </a:r>
            <a:endParaRPr lang="en-US" sz="1050" dirty="0"/>
          </a:p>
        </p:txBody>
      </p:sp>
      <p:sp>
        <p:nvSpPr>
          <p:cNvPr id="9" name="Text 6"/>
          <p:cNvSpPr/>
          <p:nvPr/>
        </p:nvSpPr>
        <p:spPr>
          <a:xfrm>
            <a:off x="11521440" y="6446520"/>
            <a:ext cx="457200" cy="320040"/>
          </a:xfrm>
          <a:prstGeom prst="rect">
            <a:avLst/>
          </a:prstGeom>
          <a:noFill/>
          <a:ln/>
        </p:spPr>
        <p:txBody>
          <a:bodyPr wrap="square" rtlCol="0" anchor="ctr"/>
          <a:lstStyle/>
          <a:p>
            <a:pPr algn="r" indent="0" marL="0">
              <a:buNone/>
            </a:pPr>
            <a:r>
              <a:rPr lang="en-US" sz="1000" dirty="0">
                <a:solidFill>
                  <a:srgbClr val="9AA3B2"/>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0058400" cy="54864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Causes &amp; Attrition Breakdown</a:t>
            </a:r>
            <a:endParaRPr lang="en-US" sz="3000" dirty="0"/>
          </a:p>
        </p:txBody>
      </p:sp>
      <p:sp>
        <p:nvSpPr>
          <p:cNvPr id="3" name="Shape 1"/>
          <p:cNvSpPr/>
          <p:nvPr/>
        </p:nvSpPr>
        <p:spPr>
          <a:xfrm>
            <a:off x="548640" y="1143000"/>
            <a:ext cx="5577840" cy="4160520"/>
          </a:xfrm>
          <a:prstGeom prst="roundRect">
            <a:avLst>
              <a:gd name="adj" fmla="val 1758"/>
            </a:avLst>
          </a:prstGeom>
          <a:solidFill>
            <a:srgbClr val="F7F8FC"/>
          </a:solidFill>
          <a:ln/>
        </p:spPr>
      </p:sp>
      <p:graphicFrame>
        <p:nvGraphicFramePr>
          <p:cNvPr id="4" name="Chart 0" descr=""/>
          <p:cNvGraphicFramePr/>
          <p:nvPr/>
        </p:nvGraphicFramePr>
        <p:xfrm>
          <a:off x="731520" y="1325880"/>
          <a:ext cx="5257800" cy="37947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309360" y="1143000"/>
            <a:ext cx="5303520" cy="4160520"/>
          </a:xfrm>
          <a:prstGeom prst="roundRect">
            <a:avLst>
              <a:gd name="adj" fmla="val 1758"/>
            </a:avLst>
          </a:prstGeom>
          <a:solidFill>
            <a:srgbClr val="F7F8FC"/>
          </a:solidFill>
          <a:ln/>
        </p:spPr>
      </p:sp>
      <p:graphicFrame>
        <p:nvGraphicFramePr>
          <p:cNvPr id="6" name="Chart 1" descr=""/>
          <p:cNvGraphicFramePr/>
          <p:nvPr/>
        </p:nvGraphicFramePr>
        <p:xfrm>
          <a:off x="6492240" y="1325880"/>
          <a:ext cx="4937760" cy="3794760"/>
        </p:xfrm>
        <a:graphic xmlns:a="http://schemas.openxmlformats.org/drawingml/2006/main">
          <a:graphicData uri="http://schemas.openxmlformats.org/drawingml/2006/chart">
            <c:chart xmlns:c="http://schemas.openxmlformats.org/drawingml/2006/chart" r:id="rId2"/>
          </a:graphicData>
        </a:graphic>
      </p:graphicFrame>
      <p:sp>
        <p:nvSpPr>
          <p:cNvPr id="7" name="Text 3"/>
          <p:cNvSpPr txBox="1"/>
          <p:nvPr/>
        </p:nvSpPr>
        <p:spPr>
          <a:xfrm>
            <a:off x="548640" y="5440680"/>
            <a:ext cx="10972800" cy="502920"/>
          </a:xfrm>
          <a:prstGeom prst="rect">
            <a:avLst/>
          </a:prstGeom>
          <a:noFill/>
          <a:ln/>
        </p:spPr>
        <p:txBody>
          <a:bodyPr wrap="square" rtlCol="0" anchor="ctr"/>
          <a:lstStyle/>
          <a:p>
            <a:pPr indent="0" marL="0">
              <a:lnSpc>
                <a:spcPct val="115000"/>
              </a:lnSpc>
              <a:buNone/>
            </a:pPr>
            <a:r>
              <a:rPr lang="en-US" sz="1150" b="1" i="1" dirty="0">
                <a:solidFill>
                  <a:srgbClr val="1E2761"/>
                </a:solidFill>
                <a:latin typeface="Calibri" pitchFamily="34" charset="0"/>
                <a:ea typeface="Calibri" pitchFamily="34" charset="-122"/>
                <a:cs typeface="Calibri" pitchFamily="34" charset="-120"/>
              </a:rPr>
              <a:t>Notes: </a:t>
            </a:r>
            <a:pPr indent="0" marL="0">
              <a:lnSpc>
                <a:spcPct val="115000"/>
              </a:lnSpc>
              <a:buNone/>
            </a:pPr>
            <a:r>
              <a:rPr lang="en-US" sz="1150" i="1" dirty="0">
                <a:solidFill>
                  <a:srgbClr val="3B3F4C"/>
                </a:solidFill>
                <a:latin typeface="Calibri" pitchFamily="34" charset="0"/>
                <a:ea typeface="Calibri" pitchFamily="34" charset="-122"/>
                <a:cs typeface="Calibri" pitchFamily="34" charset="-120"/>
              </a:rPr>
              <a:t>Charts above use sample values for demonstration only. In a real project, compute counts and percentages from cleaned data and include confidence/context where needed.</a:t>
            </a:r>
            <a:endParaRPr lang="en-US" sz="1150" dirty="0"/>
          </a:p>
        </p:txBody>
      </p:sp>
      <p:sp>
        <p:nvSpPr>
          <p:cNvPr id="8" name="Text 4"/>
          <p:cNvSpPr/>
          <p:nvPr/>
        </p:nvSpPr>
        <p:spPr>
          <a:xfrm>
            <a:off x="11521440" y="6446520"/>
            <a:ext cx="457200" cy="320040"/>
          </a:xfrm>
          <a:prstGeom prst="rect">
            <a:avLst/>
          </a:prstGeom>
          <a:noFill/>
          <a:ln/>
        </p:spPr>
        <p:txBody>
          <a:bodyPr wrap="square" rtlCol="0" anchor="ctr"/>
          <a:lstStyle/>
          <a:p>
            <a:pPr algn="r" indent="0" marL="0">
              <a:buNone/>
            </a:pPr>
            <a:r>
              <a:rPr lang="en-US" sz="1000" dirty="0">
                <a:solidFill>
                  <a:srgbClr val="9AA3B2"/>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0972800" cy="640080"/>
          </a:xfrm>
          <a:prstGeom prst="rect">
            <a:avLst/>
          </a:prstGeom>
          <a:noFill/>
          <a:ln/>
        </p:spPr>
        <p:txBody>
          <a:bodyPr wrap="square" rtlCol="0" anchor="ctr"/>
          <a:lstStyle/>
          <a:p>
            <a:pPr indent="0" marL="0">
              <a:buNone/>
            </a:pPr>
            <a:r>
              <a:rPr lang="en-US" sz="2700" b="1" dirty="0">
                <a:solidFill>
                  <a:srgbClr val="1E2761"/>
                </a:solidFill>
                <a:latin typeface="Cambria" pitchFamily="34" charset="0"/>
                <a:ea typeface="Cambria" pitchFamily="34" charset="-122"/>
                <a:cs typeface="Cambria" pitchFamily="34" charset="-120"/>
              </a:rPr>
              <a:t>High-Risk Employee Segments &amp; Visualization</a:t>
            </a:r>
            <a:endParaRPr lang="en-US" sz="2700" dirty="0"/>
          </a:p>
        </p:txBody>
      </p:sp>
      <p:sp>
        <p:nvSpPr>
          <p:cNvPr id="3" name="Shape 1"/>
          <p:cNvSpPr/>
          <p:nvPr/>
        </p:nvSpPr>
        <p:spPr>
          <a:xfrm>
            <a:off x="548640" y="1307592"/>
            <a:ext cx="91440" cy="91440"/>
          </a:xfrm>
          <a:prstGeom prst="ellipse">
            <a:avLst/>
          </a:prstGeom>
          <a:solidFill>
            <a:srgbClr val="E8871E"/>
          </a:solidFill>
          <a:ln/>
        </p:spPr>
      </p:sp>
      <p:sp>
        <p:nvSpPr>
          <p:cNvPr id="4" name="Text 2"/>
          <p:cNvSpPr txBox="1"/>
          <p:nvPr/>
        </p:nvSpPr>
        <p:spPr>
          <a:xfrm>
            <a:off x="777240" y="1234440"/>
            <a:ext cx="4572000" cy="502920"/>
          </a:xfrm>
          <a:prstGeom prst="rect">
            <a:avLst/>
          </a:prstGeom>
          <a:noFill/>
          <a:ln/>
        </p:spPr>
        <p:txBody>
          <a:bodyPr wrap="square" lIns="0" tIns="0" rIns="0" bIns="0" rtlCol="0" anchor="ctr"/>
          <a:lstStyle/>
          <a:p>
            <a:pPr indent="0" marL="0">
              <a:lnSpc>
                <a:spcPct val="115000"/>
              </a:lnSpc>
              <a:buNone/>
            </a:pPr>
            <a:r>
              <a:rPr lang="en-US" sz="1150" dirty="0">
                <a:solidFill>
                  <a:srgbClr val="3B3F4C"/>
                </a:solidFill>
                <a:latin typeface="Calibri" pitchFamily="34" charset="0"/>
                <a:ea typeface="Calibri" pitchFamily="34" charset="-122"/>
                <a:cs typeface="Calibri" pitchFamily="34" charset="-120"/>
              </a:rPr>
              <a:t>Aggregate attrition by department and role to compute segment-wise counts</a:t>
            </a:r>
            <a:endParaRPr lang="en-US" sz="1150" dirty="0"/>
          </a:p>
        </p:txBody>
      </p:sp>
      <p:sp>
        <p:nvSpPr>
          <p:cNvPr id="5" name="Shape 3"/>
          <p:cNvSpPr/>
          <p:nvPr/>
        </p:nvSpPr>
        <p:spPr>
          <a:xfrm>
            <a:off x="548640" y="1901952"/>
            <a:ext cx="91440" cy="91440"/>
          </a:xfrm>
          <a:prstGeom prst="ellipse">
            <a:avLst/>
          </a:prstGeom>
          <a:solidFill>
            <a:srgbClr val="E8871E"/>
          </a:solidFill>
          <a:ln/>
        </p:spPr>
      </p:sp>
      <p:sp>
        <p:nvSpPr>
          <p:cNvPr id="6" name="Text 4"/>
          <p:cNvSpPr txBox="1"/>
          <p:nvPr/>
        </p:nvSpPr>
        <p:spPr>
          <a:xfrm>
            <a:off x="777240" y="1828800"/>
            <a:ext cx="4572000" cy="502920"/>
          </a:xfrm>
          <a:prstGeom prst="rect">
            <a:avLst/>
          </a:prstGeom>
          <a:noFill/>
          <a:ln/>
        </p:spPr>
        <p:txBody>
          <a:bodyPr wrap="square" lIns="0" tIns="0" rIns="0" bIns="0" rtlCol="0" anchor="ctr"/>
          <a:lstStyle/>
          <a:p>
            <a:pPr indent="0" marL="0">
              <a:lnSpc>
                <a:spcPct val="115000"/>
              </a:lnSpc>
              <a:buNone/>
            </a:pPr>
            <a:r>
              <a:rPr lang="en-US" sz="1150" dirty="0">
                <a:solidFill>
                  <a:srgbClr val="3B3F4C"/>
                </a:solidFill>
                <a:latin typeface="Calibri" pitchFamily="34" charset="0"/>
                <a:ea typeface="Calibri" pitchFamily="34" charset="-122"/>
                <a:cs typeface="Calibri" pitchFamily="34" charset="-120"/>
              </a:rPr>
              <a:t>Identify high-risk roles and departments using density mapping</a:t>
            </a:r>
            <a:endParaRPr lang="en-US" sz="1150" dirty="0"/>
          </a:p>
        </p:txBody>
      </p:sp>
      <p:sp>
        <p:nvSpPr>
          <p:cNvPr id="7" name="Shape 5"/>
          <p:cNvSpPr/>
          <p:nvPr/>
        </p:nvSpPr>
        <p:spPr>
          <a:xfrm>
            <a:off x="548640" y="2496312"/>
            <a:ext cx="91440" cy="91440"/>
          </a:xfrm>
          <a:prstGeom prst="ellipse">
            <a:avLst/>
          </a:prstGeom>
          <a:solidFill>
            <a:srgbClr val="E8871E"/>
          </a:solidFill>
          <a:ln/>
        </p:spPr>
      </p:sp>
      <p:sp>
        <p:nvSpPr>
          <p:cNvPr id="8" name="Text 6"/>
          <p:cNvSpPr txBox="1"/>
          <p:nvPr/>
        </p:nvSpPr>
        <p:spPr>
          <a:xfrm>
            <a:off x="777240" y="2423160"/>
            <a:ext cx="4572000" cy="502920"/>
          </a:xfrm>
          <a:prstGeom prst="rect">
            <a:avLst/>
          </a:prstGeom>
          <a:noFill/>
          <a:ln/>
        </p:spPr>
        <p:txBody>
          <a:bodyPr wrap="square" lIns="0" tIns="0" rIns="0" bIns="0" rtlCol="0" anchor="ctr"/>
          <a:lstStyle/>
          <a:p>
            <a:pPr indent="0" marL="0">
              <a:lnSpc>
                <a:spcPct val="115000"/>
              </a:lnSpc>
              <a:buNone/>
            </a:pPr>
            <a:r>
              <a:rPr lang="en-US" sz="1150" dirty="0">
                <a:solidFill>
                  <a:srgbClr val="3B3F4C"/>
                </a:solidFill>
                <a:latin typeface="Calibri" pitchFamily="34" charset="0"/>
                <a:ea typeface="Calibri" pitchFamily="34" charset="-122"/>
                <a:cs typeface="Calibri" pitchFamily="34" charset="-120"/>
              </a:rPr>
              <a:t>Use clustering (K-Means or DBSCAN) to detect risk segments</a:t>
            </a:r>
            <a:endParaRPr lang="en-US" sz="1150" dirty="0"/>
          </a:p>
        </p:txBody>
      </p:sp>
      <p:sp>
        <p:nvSpPr>
          <p:cNvPr id="9" name="Shape 7"/>
          <p:cNvSpPr/>
          <p:nvPr/>
        </p:nvSpPr>
        <p:spPr>
          <a:xfrm>
            <a:off x="548640" y="3090672"/>
            <a:ext cx="91440" cy="91440"/>
          </a:xfrm>
          <a:prstGeom prst="ellipse">
            <a:avLst/>
          </a:prstGeom>
          <a:solidFill>
            <a:srgbClr val="E8871E"/>
          </a:solidFill>
          <a:ln/>
        </p:spPr>
      </p:sp>
      <p:sp>
        <p:nvSpPr>
          <p:cNvPr id="10" name="Text 8"/>
          <p:cNvSpPr txBox="1"/>
          <p:nvPr/>
        </p:nvSpPr>
        <p:spPr>
          <a:xfrm>
            <a:off x="777240" y="3017520"/>
            <a:ext cx="4572000" cy="502920"/>
          </a:xfrm>
          <a:prstGeom prst="rect">
            <a:avLst/>
          </a:prstGeom>
          <a:noFill/>
          <a:ln/>
        </p:spPr>
        <p:txBody>
          <a:bodyPr wrap="square" lIns="0" tIns="0" rIns="0" bIns="0" rtlCol="0" anchor="ctr"/>
          <a:lstStyle/>
          <a:p>
            <a:pPr indent="0" marL="0">
              <a:lnSpc>
                <a:spcPct val="115000"/>
              </a:lnSpc>
              <a:buNone/>
            </a:pPr>
            <a:r>
              <a:rPr lang="en-US" sz="1150" dirty="0">
                <a:solidFill>
                  <a:srgbClr val="3B3F4C"/>
                </a:solidFill>
                <a:latin typeface="Calibri" pitchFamily="34" charset="0"/>
                <a:ea typeface="Calibri" pitchFamily="34" charset="-122"/>
                <a:cs typeface="Calibri" pitchFamily="34" charset="-120"/>
              </a:rPr>
              <a:t>Integrate HR context (compensation bands, engagement scores) for deeper insight</a:t>
            </a:r>
            <a:endParaRPr lang="en-US" sz="1150" dirty="0"/>
          </a:p>
        </p:txBody>
      </p:sp>
      <p:sp>
        <p:nvSpPr>
          <p:cNvPr id="11" name="Text 9"/>
          <p:cNvSpPr txBox="1"/>
          <p:nvPr/>
        </p:nvSpPr>
        <p:spPr>
          <a:xfrm>
            <a:off x="548640" y="3794760"/>
            <a:ext cx="4572000" cy="320040"/>
          </a:xfrm>
          <a:prstGeom prst="rect">
            <a:avLst/>
          </a:prstGeom>
          <a:noFill/>
          <a:ln/>
        </p:spPr>
        <p:txBody>
          <a:bodyPr wrap="square" rtlCol="0" anchor="ctr"/>
          <a:lstStyle/>
          <a:p>
            <a:pPr indent="0" marL="0">
              <a:buNone/>
            </a:pPr>
            <a:r>
              <a:rPr lang="en-US" sz="1250" i="1" dirty="0">
                <a:solidFill>
                  <a:srgbClr val="3B3F4C"/>
                </a:solidFill>
                <a:latin typeface="Calibri" pitchFamily="34" charset="0"/>
                <a:ea typeface="Calibri" pitchFamily="34" charset="-122"/>
                <a:cs typeface="Calibri" pitchFamily="34" charset="-120"/>
              </a:rPr>
              <a:t>Conceptual risk-segment map:</a:t>
            </a:r>
            <a:endParaRPr lang="en-US" sz="1250" dirty="0"/>
          </a:p>
        </p:txBody>
      </p:sp>
      <p:sp>
        <p:nvSpPr>
          <p:cNvPr id="12" name="Shape 10"/>
          <p:cNvSpPr/>
          <p:nvPr/>
        </p:nvSpPr>
        <p:spPr>
          <a:xfrm>
            <a:off x="5669280" y="1188720"/>
            <a:ext cx="5943600" cy="4572000"/>
          </a:xfrm>
          <a:prstGeom prst="roundRect">
            <a:avLst>
              <a:gd name="adj" fmla="val 2000"/>
            </a:avLst>
          </a:prstGeom>
          <a:solidFill>
            <a:srgbClr val="F7F8FC"/>
          </a:solidFill>
          <a:ln/>
        </p:spPr>
      </p:sp>
      <p:sp>
        <p:nvSpPr>
          <p:cNvPr id="13" name="Shape 11"/>
          <p:cNvSpPr/>
          <p:nvPr/>
        </p:nvSpPr>
        <p:spPr>
          <a:xfrm>
            <a:off x="7498080" y="1828800"/>
            <a:ext cx="1554480" cy="1554480"/>
          </a:xfrm>
          <a:prstGeom prst="ellipse">
            <a:avLst/>
          </a:prstGeom>
          <a:solidFill>
            <a:srgbClr val="C0392B">
              <a:alpha val="92000"/>
            </a:srgbClr>
          </a:solidFill>
          <a:ln w="19050">
            <a:solidFill>
              <a:srgbClr val="FFFFFF"/>
            </a:solidFill>
            <a:prstDash val="solid"/>
          </a:ln>
        </p:spPr>
      </p:sp>
      <p:sp>
        <p:nvSpPr>
          <p:cNvPr id="14" name="Text 12"/>
          <p:cNvSpPr txBox="1"/>
          <p:nvPr/>
        </p:nvSpPr>
        <p:spPr>
          <a:xfrm>
            <a:off x="7360920" y="1828800"/>
            <a:ext cx="1828800" cy="1554480"/>
          </a:xfrm>
          <a:prstGeom prst="rect">
            <a:avLst/>
          </a:prstGeom>
          <a:noFill/>
          <a:ln/>
        </p:spPr>
        <p:txBody>
          <a:bodyPr wrap="square" lIns="0" tIns="0" rIns="0" bIns="0" rtlCol="0" anchor="ctr"/>
          <a:lstStyle/>
          <a:p>
            <a:pPr algn="ctr" indent="0" marL="0">
              <a:lnSpc>
                <a:spcPct val="100000"/>
              </a:lnSpc>
              <a:buNone/>
            </a:pPr>
            <a:r>
              <a:rPr lang="en-US" sz="1200" b="1" dirty="0">
                <a:solidFill>
                  <a:srgbClr val="FFFFFF"/>
                </a:solidFill>
                <a:latin typeface="Calibri" pitchFamily="34" charset="0"/>
                <a:ea typeface="Calibri" pitchFamily="34" charset="-122"/>
                <a:cs typeface="Calibri" pitchFamily="34" charset="-120"/>
              </a:rPr>
              <a:t>Sales</a:t>
            </a:r>
            <a:endParaRPr lang="en-US" sz="1200" dirty="0"/>
          </a:p>
          <a:p>
            <a:pPr algn="ctr" indent="0" marL="0">
              <a:lnSpc>
                <a:spcPct val="100000"/>
              </a:lnSpc>
              <a:buNone/>
            </a:pPr>
            <a:r>
              <a:rPr lang="en-US" sz="1200" b="1" dirty="0">
                <a:solidFill>
                  <a:srgbClr val="FFFFFF"/>
                </a:solidFill>
                <a:latin typeface="Calibri" pitchFamily="34" charset="0"/>
                <a:ea typeface="Calibri" pitchFamily="34" charset="-122"/>
                <a:cs typeface="Calibri" pitchFamily="34" charset="-120"/>
              </a:rPr>
              <a:t>High Risk</a:t>
            </a:r>
            <a:endParaRPr lang="en-US" sz="1200" dirty="0"/>
          </a:p>
        </p:txBody>
      </p:sp>
      <p:sp>
        <p:nvSpPr>
          <p:cNvPr id="15" name="Shape 13"/>
          <p:cNvSpPr/>
          <p:nvPr/>
        </p:nvSpPr>
        <p:spPr>
          <a:xfrm>
            <a:off x="6035040" y="3383280"/>
            <a:ext cx="1234440" cy="1234440"/>
          </a:xfrm>
          <a:prstGeom prst="ellipse">
            <a:avLst/>
          </a:prstGeom>
          <a:solidFill>
            <a:srgbClr val="E8871E">
              <a:alpha val="92000"/>
            </a:srgbClr>
          </a:solidFill>
          <a:ln w="19050">
            <a:solidFill>
              <a:srgbClr val="FFFFFF"/>
            </a:solidFill>
            <a:prstDash val="solid"/>
          </a:ln>
        </p:spPr>
      </p:sp>
      <p:sp>
        <p:nvSpPr>
          <p:cNvPr id="16" name="Text 14"/>
          <p:cNvSpPr txBox="1"/>
          <p:nvPr/>
        </p:nvSpPr>
        <p:spPr>
          <a:xfrm>
            <a:off x="5897880" y="3383280"/>
            <a:ext cx="1508760" cy="1234440"/>
          </a:xfrm>
          <a:prstGeom prst="rect">
            <a:avLst/>
          </a:prstGeom>
          <a:noFill/>
          <a:ln/>
        </p:spPr>
        <p:txBody>
          <a:bodyPr wrap="square" lIns="0" tIns="0" rIns="0" bIns="0" rtlCol="0" anchor="ctr"/>
          <a:lstStyle/>
          <a:p>
            <a:pPr algn="ctr" indent="0" marL="0">
              <a:lnSpc>
                <a:spcPct val="100000"/>
              </a:lnSpc>
              <a:buNone/>
            </a:pPr>
            <a:r>
              <a:rPr lang="en-US" sz="950" b="1" dirty="0">
                <a:solidFill>
                  <a:srgbClr val="FFFFFF"/>
                </a:solidFill>
                <a:latin typeface="Calibri" pitchFamily="34" charset="0"/>
                <a:ea typeface="Calibri" pitchFamily="34" charset="-122"/>
                <a:cs typeface="Calibri" pitchFamily="34" charset="-120"/>
              </a:rPr>
              <a:t>R&amp;D</a:t>
            </a:r>
            <a:endParaRPr lang="en-US" sz="950" dirty="0"/>
          </a:p>
          <a:p>
            <a:pPr algn="ctr" indent="0" marL="0">
              <a:lnSpc>
                <a:spcPct val="100000"/>
              </a:lnSpc>
              <a:buNone/>
            </a:pPr>
            <a:r>
              <a:rPr lang="en-US" sz="950" b="1" dirty="0">
                <a:solidFill>
                  <a:srgbClr val="FFFFFF"/>
                </a:solidFill>
                <a:latin typeface="Calibri" pitchFamily="34" charset="0"/>
                <a:ea typeface="Calibri" pitchFamily="34" charset="-122"/>
                <a:cs typeface="Calibri" pitchFamily="34" charset="-120"/>
              </a:rPr>
              <a:t>Medium Risk</a:t>
            </a:r>
            <a:endParaRPr lang="en-US" sz="950" dirty="0"/>
          </a:p>
        </p:txBody>
      </p:sp>
      <p:sp>
        <p:nvSpPr>
          <p:cNvPr id="17" name="Shape 15"/>
          <p:cNvSpPr/>
          <p:nvPr/>
        </p:nvSpPr>
        <p:spPr>
          <a:xfrm>
            <a:off x="9052560" y="3063240"/>
            <a:ext cx="1051560" cy="1051560"/>
          </a:xfrm>
          <a:prstGeom prst="ellipse">
            <a:avLst/>
          </a:prstGeom>
          <a:solidFill>
            <a:srgbClr val="E8871E">
              <a:alpha val="92000"/>
            </a:srgbClr>
          </a:solidFill>
          <a:ln w="19050">
            <a:solidFill>
              <a:srgbClr val="FFFFFF"/>
            </a:solidFill>
            <a:prstDash val="solid"/>
          </a:ln>
        </p:spPr>
      </p:sp>
      <p:sp>
        <p:nvSpPr>
          <p:cNvPr id="18" name="Text 16"/>
          <p:cNvSpPr txBox="1"/>
          <p:nvPr/>
        </p:nvSpPr>
        <p:spPr>
          <a:xfrm>
            <a:off x="8915400" y="3063240"/>
            <a:ext cx="1325880" cy="1051560"/>
          </a:xfrm>
          <a:prstGeom prst="rect">
            <a:avLst/>
          </a:prstGeom>
          <a:noFill/>
          <a:ln/>
        </p:spPr>
        <p:txBody>
          <a:bodyPr wrap="square" lIns="0" tIns="0" rIns="0" bIns="0" rtlCol="0" anchor="ctr"/>
          <a:lstStyle/>
          <a:p>
            <a:pPr algn="ctr" indent="0" marL="0">
              <a:lnSpc>
                <a:spcPct val="100000"/>
              </a:lnSpc>
              <a:buNone/>
            </a:pPr>
            <a:r>
              <a:rPr lang="en-US" sz="950" b="1" dirty="0">
                <a:solidFill>
                  <a:srgbClr val="FFFFFF"/>
                </a:solidFill>
                <a:latin typeface="Calibri" pitchFamily="34" charset="0"/>
                <a:ea typeface="Calibri" pitchFamily="34" charset="-122"/>
                <a:cs typeface="Calibri" pitchFamily="34" charset="-120"/>
              </a:rPr>
              <a:t>Support</a:t>
            </a:r>
            <a:endParaRPr lang="en-US" sz="950" dirty="0"/>
          </a:p>
          <a:p>
            <a:pPr algn="ctr" indent="0" marL="0">
              <a:lnSpc>
                <a:spcPct val="100000"/>
              </a:lnSpc>
              <a:buNone/>
            </a:pPr>
            <a:r>
              <a:rPr lang="en-US" sz="950" b="1" dirty="0">
                <a:solidFill>
                  <a:srgbClr val="FFFFFF"/>
                </a:solidFill>
                <a:latin typeface="Calibri" pitchFamily="34" charset="0"/>
                <a:ea typeface="Calibri" pitchFamily="34" charset="-122"/>
                <a:cs typeface="Calibri" pitchFamily="34" charset="-120"/>
              </a:rPr>
              <a:t>Medium Risk</a:t>
            </a:r>
            <a:endParaRPr lang="en-US" sz="950" dirty="0"/>
          </a:p>
        </p:txBody>
      </p:sp>
      <p:sp>
        <p:nvSpPr>
          <p:cNvPr id="19" name="Shape 17"/>
          <p:cNvSpPr/>
          <p:nvPr/>
        </p:nvSpPr>
        <p:spPr>
          <a:xfrm>
            <a:off x="6766560" y="4709160"/>
            <a:ext cx="914400" cy="914400"/>
          </a:xfrm>
          <a:prstGeom prst="ellipse">
            <a:avLst/>
          </a:prstGeom>
          <a:solidFill>
            <a:srgbClr val="2F6FB3">
              <a:alpha val="92000"/>
            </a:srgbClr>
          </a:solidFill>
          <a:ln w="19050">
            <a:solidFill>
              <a:srgbClr val="FFFFFF"/>
            </a:solidFill>
            <a:prstDash val="solid"/>
          </a:ln>
        </p:spPr>
      </p:sp>
      <p:sp>
        <p:nvSpPr>
          <p:cNvPr id="20" name="Text 18"/>
          <p:cNvSpPr txBox="1"/>
          <p:nvPr/>
        </p:nvSpPr>
        <p:spPr>
          <a:xfrm>
            <a:off x="6629400" y="4709160"/>
            <a:ext cx="1188720" cy="914400"/>
          </a:xfrm>
          <a:prstGeom prst="rect">
            <a:avLst/>
          </a:prstGeom>
          <a:noFill/>
          <a:ln/>
        </p:spPr>
        <p:txBody>
          <a:bodyPr wrap="square" lIns="0" tIns="0" rIns="0" bIns="0" rtlCol="0" anchor="ctr"/>
          <a:lstStyle/>
          <a:p>
            <a:pPr algn="ctr" indent="0" marL="0">
              <a:lnSpc>
                <a:spcPct val="100000"/>
              </a:lnSpc>
              <a:buNone/>
            </a:pPr>
            <a:r>
              <a:rPr lang="en-US" sz="950" b="1" dirty="0">
                <a:solidFill>
                  <a:srgbClr val="FFFFFF"/>
                </a:solidFill>
                <a:latin typeface="Calibri" pitchFamily="34" charset="0"/>
                <a:ea typeface="Calibri" pitchFamily="34" charset="-122"/>
                <a:cs typeface="Calibri" pitchFamily="34" charset="-120"/>
              </a:rPr>
              <a:t>HR</a:t>
            </a:r>
            <a:endParaRPr lang="en-US" sz="950" dirty="0"/>
          </a:p>
          <a:p>
            <a:pPr algn="ctr" indent="0" marL="0">
              <a:lnSpc>
                <a:spcPct val="100000"/>
              </a:lnSpc>
              <a:buNone/>
            </a:pPr>
            <a:r>
              <a:rPr lang="en-US" sz="950" b="1" dirty="0">
                <a:solidFill>
                  <a:srgbClr val="FFFFFF"/>
                </a:solidFill>
                <a:latin typeface="Calibri" pitchFamily="34" charset="0"/>
                <a:ea typeface="Calibri" pitchFamily="34" charset="-122"/>
                <a:cs typeface="Calibri" pitchFamily="34" charset="-120"/>
              </a:rPr>
              <a:t>Low Risk</a:t>
            </a:r>
            <a:endParaRPr lang="en-US" sz="950" dirty="0"/>
          </a:p>
        </p:txBody>
      </p:sp>
      <p:sp>
        <p:nvSpPr>
          <p:cNvPr id="21" name="Shape 19"/>
          <p:cNvSpPr/>
          <p:nvPr/>
        </p:nvSpPr>
        <p:spPr>
          <a:xfrm>
            <a:off x="9509760" y="4480560"/>
            <a:ext cx="868680" cy="868680"/>
          </a:xfrm>
          <a:prstGeom prst="ellipse">
            <a:avLst/>
          </a:prstGeom>
          <a:solidFill>
            <a:srgbClr val="2F6FB3">
              <a:alpha val="92000"/>
            </a:srgbClr>
          </a:solidFill>
          <a:ln w="19050">
            <a:solidFill>
              <a:srgbClr val="FFFFFF"/>
            </a:solidFill>
            <a:prstDash val="solid"/>
          </a:ln>
        </p:spPr>
      </p:sp>
      <p:sp>
        <p:nvSpPr>
          <p:cNvPr id="22" name="Text 20"/>
          <p:cNvSpPr txBox="1"/>
          <p:nvPr/>
        </p:nvSpPr>
        <p:spPr>
          <a:xfrm>
            <a:off x="9372600" y="4480560"/>
            <a:ext cx="1143000" cy="868680"/>
          </a:xfrm>
          <a:prstGeom prst="rect">
            <a:avLst/>
          </a:prstGeom>
          <a:noFill/>
          <a:ln/>
        </p:spPr>
        <p:txBody>
          <a:bodyPr wrap="square" lIns="0" tIns="0" rIns="0" bIns="0" rtlCol="0" anchor="ctr"/>
          <a:lstStyle/>
          <a:p>
            <a:pPr algn="ctr" indent="0" marL="0">
              <a:lnSpc>
                <a:spcPct val="100000"/>
              </a:lnSpc>
              <a:buNone/>
            </a:pPr>
            <a:r>
              <a:rPr lang="en-US" sz="950" b="1" dirty="0">
                <a:solidFill>
                  <a:srgbClr val="FFFFFF"/>
                </a:solidFill>
                <a:latin typeface="Calibri" pitchFamily="34" charset="0"/>
                <a:ea typeface="Calibri" pitchFamily="34" charset="-122"/>
                <a:cs typeface="Calibri" pitchFamily="34" charset="-120"/>
              </a:rPr>
              <a:t>Finance</a:t>
            </a:r>
            <a:endParaRPr lang="en-US" sz="950" dirty="0"/>
          </a:p>
          <a:p>
            <a:pPr algn="ctr" indent="0" marL="0">
              <a:lnSpc>
                <a:spcPct val="100000"/>
              </a:lnSpc>
              <a:buNone/>
            </a:pPr>
            <a:r>
              <a:rPr lang="en-US" sz="950" b="1" dirty="0">
                <a:solidFill>
                  <a:srgbClr val="FFFFFF"/>
                </a:solidFill>
                <a:latin typeface="Calibri" pitchFamily="34" charset="0"/>
                <a:ea typeface="Calibri" pitchFamily="34" charset="-122"/>
                <a:cs typeface="Calibri" pitchFamily="34" charset="-120"/>
              </a:rPr>
              <a:t>Low Risk</a:t>
            </a:r>
            <a:endParaRPr lang="en-US" sz="950" dirty="0"/>
          </a:p>
        </p:txBody>
      </p:sp>
      <p:sp>
        <p:nvSpPr>
          <p:cNvPr id="23" name="Text 21"/>
          <p:cNvSpPr txBox="1"/>
          <p:nvPr/>
        </p:nvSpPr>
        <p:spPr>
          <a:xfrm>
            <a:off x="5897880" y="5532120"/>
            <a:ext cx="5486400" cy="320040"/>
          </a:xfrm>
          <a:prstGeom prst="rect">
            <a:avLst/>
          </a:prstGeom>
          <a:noFill/>
          <a:ln/>
        </p:spPr>
        <p:txBody>
          <a:bodyPr wrap="square" rtlCol="0" anchor="ctr"/>
          <a:lstStyle/>
          <a:p>
            <a:pPr indent="0" marL="0">
              <a:buNone/>
            </a:pPr>
            <a:r>
              <a:rPr lang="en-US" sz="1000" i="1" dirty="0">
                <a:solidFill>
                  <a:srgbClr val="3B3F4C"/>
                </a:solidFill>
                <a:latin typeface="Calibri" pitchFamily="34" charset="0"/>
                <a:ea typeface="Calibri" pitchFamily="34" charset="-122"/>
                <a:cs typeface="Calibri" pitchFamily="34" charset="-120"/>
              </a:rPr>
              <a:t>Bubble size reflects headcount; color reflects attrition risk level.</a:t>
            </a:r>
            <a:endParaRPr lang="en-US" sz="1000" dirty="0"/>
          </a:p>
        </p:txBody>
      </p:sp>
      <p:sp>
        <p:nvSpPr>
          <p:cNvPr id="24" name="Text 22"/>
          <p:cNvSpPr txBox="1"/>
          <p:nvPr/>
        </p:nvSpPr>
        <p:spPr>
          <a:xfrm>
            <a:off x="548640" y="5989320"/>
            <a:ext cx="10881360" cy="365760"/>
          </a:xfrm>
          <a:prstGeom prst="rect">
            <a:avLst/>
          </a:prstGeom>
          <a:noFill/>
          <a:ln/>
        </p:spPr>
        <p:txBody>
          <a:bodyPr wrap="square" rtlCol="0" anchor="ctr"/>
          <a:lstStyle/>
          <a:p>
            <a:pPr indent="0" marL="0">
              <a:buNone/>
            </a:pPr>
            <a:r>
              <a:rPr lang="en-US" sz="1050" i="1" dirty="0">
                <a:solidFill>
                  <a:srgbClr val="8A8FA3"/>
                </a:solidFill>
                <a:latin typeface="Calibri" pitchFamily="34" charset="0"/>
                <a:ea typeface="Calibri" pitchFamily="34" charset="-122"/>
                <a:cs typeface="Calibri" pitchFamily="34" charset="-120"/>
              </a:rPr>
              <a:t>Segment analysis is conceptual. Use actual department and role data in implementation.</a:t>
            </a:r>
            <a:endParaRPr lang="en-US" sz="1050" dirty="0"/>
          </a:p>
        </p:txBody>
      </p:sp>
      <p:sp>
        <p:nvSpPr>
          <p:cNvPr id="25" name="Text 23"/>
          <p:cNvSpPr/>
          <p:nvPr/>
        </p:nvSpPr>
        <p:spPr>
          <a:xfrm>
            <a:off x="11521440" y="6446520"/>
            <a:ext cx="457200" cy="320040"/>
          </a:xfrm>
          <a:prstGeom prst="rect">
            <a:avLst/>
          </a:prstGeom>
          <a:noFill/>
          <a:ln/>
        </p:spPr>
        <p:txBody>
          <a:bodyPr wrap="square" rtlCol="0" anchor="ctr"/>
          <a:lstStyle/>
          <a:p>
            <a:pPr algn="r" indent="0" marL="0">
              <a:buNone/>
            </a:pPr>
            <a:r>
              <a:rPr lang="en-US" sz="1000" dirty="0">
                <a:solidFill>
                  <a:srgbClr val="9AA3B2"/>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0515600" cy="548640"/>
          </a:xfrm>
          <a:prstGeom prst="rect">
            <a:avLst/>
          </a:prstGeom>
          <a:noFill/>
          <a:ln/>
        </p:spPr>
        <p:txBody>
          <a:bodyPr wrap="square" rtlCol="0" anchor="ctr"/>
          <a:lstStyle/>
          <a:p>
            <a:pPr indent="0" marL="0">
              <a:buNone/>
            </a:pPr>
            <a:r>
              <a:rPr lang="en-US" sz="2900" b="1" dirty="0">
                <a:solidFill>
                  <a:srgbClr val="1E2761"/>
                </a:solidFill>
                <a:latin typeface="Cambria" pitchFamily="34" charset="0"/>
                <a:ea typeface="Cambria" pitchFamily="34" charset="-122"/>
                <a:cs typeface="Cambria" pitchFamily="34" charset="-120"/>
              </a:rPr>
              <a:t>Tools, Key Findings &amp; Applications</a:t>
            </a:r>
            <a:endParaRPr lang="en-US" sz="2900" dirty="0"/>
          </a:p>
        </p:txBody>
      </p:sp>
      <p:sp>
        <p:nvSpPr>
          <p:cNvPr id="3" name="Shape 1"/>
          <p:cNvSpPr/>
          <p:nvPr/>
        </p:nvSpPr>
        <p:spPr>
          <a:xfrm>
            <a:off x="548640" y="1188720"/>
            <a:ext cx="5212080" cy="4023360"/>
          </a:xfrm>
          <a:prstGeom prst="roundRect">
            <a:avLst>
              <a:gd name="adj" fmla="val 1818"/>
            </a:avLst>
          </a:prstGeom>
          <a:solidFill>
            <a:srgbClr val="1E2761"/>
          </a:solidFill>
          <a:ln/>
        </p:spPr>
      </p:sp>
      <p:sp>
        <p:nvSpPr>
          <p:cNvPr id="4" name="Text 2"/>
          <p:cNvSpPr txBox="1"/>
          <p:nvPr/>
        </p:nvSpPr>
        <p:spPr>
          <a:xfrm>
            <a:off x="822960" y="1371600"/>
            <a:ext cx="466344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Tools &amp; Technologies</a:t>
            </a:r>
            <a:endParaRPr lang="en-US" sz="1500" dirty="0"/>
          </a:p>
        </p:txBody>
      </p:sp>
      <p:sp>
        <p:nvSpPr>
          <p:cNvPr id="5" name="Text 3"/>
          <p:cNvSpPr txBox="1"/>
          <p:nvPr/>
        </p:nvSpPr>
        <p:spPr>
          <a:xfrm>
            <a:off x="822960" y="1828800"/>
            <a:ext cx="4663440" cy="3200400"/>
          </a:xfrm>
          <a:prstGeom prst="rect">
            <a:avLst/>
          </a:prstGeom>
          <a:noFill/>
          <a:ln/>
        </p:spPr>
        <p:txBody>
          <a:bodyPr wrap="square" rtlCol="0" anchor="ctr"/>
          <a:lstStyle/>
          <a:p>
            <a:pPr marL="342900" indent="-342900">
              <a:spcAft>
                <a:spcPts val="1000"/>
              </a:spcAft>
              <a:buSzPct val="100000"/>
              <a:buChar char="●"/>
            </a:pPr>
            <a:r>
              <a:rPr lang="en-US" sz="1250" dirty="0">
                <a:solidFill>
                  <a:srgbClr val="CADCFC"/>
                </a:solidFill>
                <a:latin typeface="Calibri" pitchFamily="34" charset="0"/>
                <a:ea typeface="Calibri" pitchFamily="34" charset="-122"/>
                <a:cs typeface="Calibri" pitchFamily="34" charset="-120"/>
              </a:rPr>
              <a:t>Python (Pandas, NumPy)</a:t>
            </a:r>
            <a:endParaRPr lang="en-US" sz="1250" dirty="0"/>
          </a:p>
          <a:p>
            <a:pPr marL="342900" indent="-342900">
              <a:spcAft>
                <a:spcPts val="1000"/>
              </a:spcAft>
              <a:buSzPct val="100000"/>
              <a:buChar char="●"/>
            </a:pPr>
            <a:r>
              <a:rPr lang="en-US" sz="1250" dirty="0">
                <a:solidFill>
                  <a:srgbClr val="CADCFC"/>
                </a:solidFill>
                <a:latin typeface="Calibri" pitchFamily="34" charset="0"/>
                <a:ea typeface="Calibri" pitchFamily="34" charset="-122"/>
                <a:cs typeface="Calibri" pitchFamily="34" charset="-120"/>
              </a:rPr>
              <a:t>Visualization: Matplotlib, Seaborn</a:t>
            </a:r>
            <a:endParaRPr lang="en-US" sz="1250" dirty="0"/>
          </a:p>
          <a:p>
            <a:pPr marL="342900" indent="-342900">
              <a:spcAft>
                <a:spcPts val="1000"/>
              </a:spcAft>
              <a:buSzPct val="100000"/>
              <a:buChar char="●"/>
            </a:pPr>
            <a:r>
              <a:rPr lang="en-US" sz="1250" dirty="0">
                <a:solidFill>
                  <a:srgbClr val="CADCFC"/>
                </a:solidFill>
                <a:latin typeface="Calibri" pitchFamily="34" charset="0"/>
                <a:ea typeface="Calibri" pitchFamily="34" charset="-122"/>
                <a:cs typeface="Calibri" pitchFamily="34" charset="-120"/>
              </a:rPr>
              <a:t>Interactive dashboards: Power BI / Tableau</a:t>
            </a:r>
            <a:endParaRPr lang="en-US" sz="1250" dirty="0"/>
          </a:p>
          <a:p>
            <a:pPr marL="342900" indent="-342900">
              <a:spcAft>
                <a:spcPts val="1000"/>
              </a:spcAft>
              <a:buSzPct val="100000"/>
              <a:buChar char="●"/>
            </a:pPr>
            <a:r>
              <a:rPr lang="en-US" sz="1250" dirty="0">
                <a:solidFill>
                  <a:srgbClr val="CADCFC"/>
                </a:solidFill>
                <a:latin typeface="Calibri" pitchFamily="34" charset="0"/>
                <a:ea typeface="Calibri" pitchFamily="34" charset="-122"/>
                <a:cs typeface="Calibri" pitchFamily="34" charset="-120"/>
              </a:rPr>
              <a:t>HR Systems: Workday, SAP SuccessFactors exports</a:t>
            </a:r>
            <a:endParaRPr lang="en-US" sz="1250" dirty="0"/>
          </a:p>
          <a:p>
            <a:pPr marL="342900" indent="-342900">
              <a:spcAft>
                <a:spcPts val="1000"/>
              </a:spcAft>
              <a:buSzPct val="100000"/>
              <a:buChar char="●"/>
            </a:pPr>
            <a:r>
              <a:rPr lang="en-US" sz="1250" dirty="0">
                <a:solidFill>
                  <a:srgbClr val="CADCFC"/>
                </a:solidFill>
                <a:latin typeface="Calibri" pitchFamily="34" charset="0"/>
                <a:ea typeface="Calibri" pitchFamily="34" charset="-122"/>
                <a:cs typeface="Calibri" pitchFamily="34" charset="-120"/>
              </a:rPr>
              <a:t>Machine Learning: scikit-learn, XGBoost</a:t>
            </a:r>
            <a:endParaRPr lang="en-US" sz="1250" dirty="0"/>
          </a:p>
        </p:txBody>
      </p:sp>
      <p:sp>
        <p:nvSpPr>
          <p:cNvPr id="6" name="Shape 4"/>
          <p:cNvSpPr/>
          <p:nvPr/>
        </p:nvSpPr>
        <p:spPr>
          <a:xfrm>
            <a:off x="6035040" y="1188720"/>
            <a:ext cx="5577840" cy="4023360"/>
          </a:xfrm>
          <a:prstGeom prst="roundRect">
            <a:avLst>
              <a:gd name="adj" fmla="val 1818"/>
            </a:avLst>
          </a:prstGeom>
          <a:solidFill>
            <a:srgbClr val="F7F8FC"/>
          </a:solidFill>
          <a:ln/>
        </p:spPr>
      </p:sp>
      <p:sp>
        <p:nvSpPr>
          <p:cNvPr id="7" name="Text 5"/>
          <p:cNvSpPr txBox="1"/>
          <p:nvPr/>
        </p:nvSpPr>
        <p:spPr>
          <a:xfrm>
            <a:off x="6309360" y="1371600"/>
            <a:ext cx="5029200" cy="365760"/>
          </a:xfrm>
          <a:prstGeom prst="rect">
            <a:avLst/>
          </a:prstGeom>
          <a:noFill/>
          <a:ln/>
        </p:spPr>
        <p:txBody>
          <a:bodyPr wrap="square"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Key Findings (typical outcomes)</a:t>
            </a:r>
            <a:endParaRPr lang="en-US" sz="1500" dirty="0"/>
          </a:p>
        </p:txBody>
      </p:sp>
      <p:sp>
        <p:nvSpPr>
          <p:cNvPr id="8" name="Text 6"/>
          <p:cNvSpPr txBox="1"/>
          <p:nvPr/>
        </p:nvSpPr>
        <p:spPr>
          <a:xfrm>
            <a:off x="6309360" y="1828800"/>
            <a:ext cx="5029200" cy="3200400"/>
          </a:xfrm>
          <a:prstGeom prst="rect">
            <a:avLst/>
          </a:prstGeom>
          <a:noFill/>
          <a:ln/>
        </p:spPr>
        <p:txBody>
          <a:bodyPr wrap="square" rtlCol="0" anchor="ctr"/>
          <a:lstStyle/>
          <a:p>
            <a:pPr marL="342900" indent="-342900">
              <a:spcAft>
                <a:spcPts val="1000"/>
              </a:spcAft>
              <a:buSzPct val="100000"/>
              <a:buChar char="●"/>
            </a:pPr>
            <a:r>
              <a:rPr lang="en-US" sz="1200" dirty="0">
                <a:solidFill>
                  <a:srgbClr val="3B3F4C"/>
                </a:solidFill>
                <a:latin typeface="Calibri" pitchFamily="34" charset="0"/>
                <a:ea typeface="Calibri" pitchFamily="34" charset="-122"/>
                <a:cs typeface="Calibri" pitchFamily="34" charset="-120"/>
              </a:rPr>
              <a:t>Low salary and poor work-life balance emerge as leading causes</a:t>
            </a:r>
            <a:endParaRPr lang="en-US" sz="1200" dirty="0"/>
          </a:p>
          <a:p>
            <a:pPr marL="342900" indent="-342900">
              <a:spcAft>
                <a:spcPts val="1000"/>
              </a:spcAft>
              <a:buSzPct val="100000"/>
              <a:buChar char="●"/>
            </a:pPr>
            <a:r>
              <a:rPr lang="en-US" sz="1200" dirty="0">
                <a:solidFill>
                  <a:srgbClr val="3B3F4C"/>
                </a:solidFill>
                <a:latin typeface="Calibri" pitchFamily="34" charset="0"/>
                <a:ea typeface="Calibri" pitchFamily="34" charset="-122"/>
                <a:cs typeface="Calibri" pitchFamily="34" charset="-120"/>
              </a:rPr>
              <a:t>Specific departments and roles show concentrated attrition</a:t>
            </a:r>
            <a:endParaRPr lang="en-US" sz="1200" dirty="0"/>
          </a:p>
          <a:p>
            <a:pPr marL="342900" indent="-342900">
              <a:spcAft>
                <a:spcPts val="1000"/>
              </a:spcAft>
              <a:buSzPct val="100000"/>
              <a:buChar char="●"/>
            </a:pPr>
            <a:r>
              <a:rPr lang="en-US" sz="1200" dirty="0">
                <a:solidFill>
                  <a:srgbClr val="3B3F4C"/>
                </a:solidFill>
                <a:latin typeface="Calibri" pitchFamily="34" charset="0"/>
                <a:ea typeface="Calibri" pitchFamily="34" charset="-122"/>
                <a:cs typeface="Calibri" pitchFamily="34" charset="-120"/>
              </a:rPr>
              <a:t>Employees within the first two years carry elevated risk</a:t>
            </a:r>
            <a:endParaRPr lang="en-US" sz="1200" dirty="0"/>
          </a:p>
          <a:p>
            <a:pPr marL="342900" indent="-342900">
              <a:spcAft>
                <a:spcPts val="1000"/>
              </a:spcAft>
              <a:buSzPct val="100000"/>
              <a:buChar char="●"/>
            </a:pPr>
            <a:r>
              <a:rPr lang="en-US" sz="1200" dirty="0">
                <a:solidFill>
                  <a:srgbClr val="3B3F4C"/>
                </a:solidFill>
                <a:latin typeface="Calibri" pitchFamily="34" charset="0"/>
                <a:ea typeface="Calibri" pitchFamily="34" charset="-122"/>
                <a:cs typeface="Calibri" pitchFamily="34" charset="-120"/>
              </a:rPr>
              <a:t>Low satisfaction and frequent overtime correlate with attrition</a:t>
            </a:r>
            <a:endParaRPr lang="en-US" sz="1200" dirty="0"/>
          </a:p>
          <a:p>
            <a:pPr marL="342900" indent="-342900">
              <a:spcAft>
                <a:spcPts val="1000"/>
              </a:spcAft>
              <a:buSzPct val="100000"/>
              <a:buChar char="●"/>
            </a:pPr>
            <a:r>
              <a:rPr lang="en-US" sz="1200" dirty="0">
                <a:solidFill>
                  <a:srgbClr val="3B3F4C"/>
                </a:solidFill>
                <a:latin typeface="Calibri" pitchFamily="34" charset="0"/>
                <a:ea typeface="Calibri" pitchFamily="34" charset="-122"/>
                <a:cs typeface="Calibri" pitchFamily="34" charset="-120"/>
              </a:rPr>
              <a:t>Visualizations enable targeted retention recommendations</a:t>
            </a:r>
            <a:endParaRPr lang="en-US" sz="1200" dirty="0"/>
          </a:p>
        </p:txBody>
      </p:sp>
      <p:sp>
        <p:nvSpPr>
          <p:cNvPr id="9" name="Shape 7"/>
          <p:cNvSpPr/>
          <p:nvPr/>
        </p:nvSpPr>
        <p:spPr>
          <a:xfrm>
            <a:off x="548640" y="5394960"/>
            <a:ext cx="11064240" cy="777240"/>
          </a:xfrm>
          <a:prstGeom prst="roundRect">
            <a:avLst>
              <a:gd name="adj" fmla="val 7059"/>
            </a:avLst>
          </a:prstGeom>
          <a:solidFill>
            <a:srgbClr val="CADCFC"/>
          </a:solidFill>
          <a:ln/>
        </p:spPr>
      </p:sp>
      <p:sp>
        <p:nvSpPr>
          <p:cNvPr id="10" name="Text 8"/>
          <p:cNvSpPr txBox="1"/>
          <p:nvPr/>
        </p:nvSpPr>
        <p:spPr>
          <a:xfrm>
            <a:off x="777240" y="5394960"/>
            <a:ext cx="10607040" cy="777240"/>
          </a:xfrm>
          <a:prstGeom prst="rect">
            <a:avLst/>
          </a:prstGeom>
          <a:noFill/>
          <a:ln/>
        </p:spPr>
        <p:txBody>
          <a:bodyPr wrap="square" rtlCol="0" anchor="ctr"/>
          <a:lstStyle/>
          <a:p>
            <a:pPr indent="0" marL="0">
              <a:lnSpc>
                <a:spcPct val="115000"/>
              </a:lnSpc>
              <a:buNone/>
            </a:pPr>
            <a:r>
              <a:rPr lang="en-US" sz="1250" b="1" dirty="0">
                <a:solidFill>
                  <a:srgbClr val="1E2761"/>
                </a:solidFill>
                <a:latin typeface="Calibri" pitchFamily="34" charset="0"/>
                <a:ea typeface="Calibri" pitchFamily="34" charset="-122"/>
                <a:cs typeface="Calibri" pitchFamily="34" charset="-120"/>
              </a:rPr>
              <a:t>Applications:  </a:t>
            </a:r>
            <a:pPr indent="0" marL="0">
              <a:lnSpc>
                <a:spcPct val="115000"/>
              </a:lnSpc>
              <a:buNone/>
            </a:pPr>
            <a:r>
              <a:rPr lang="en-US" sz="1250" dirty="0">
                <a:solidFill>
                  <a:srgbClr val="1E2761"/>
                </a:solidFill>
                <a:latin typeface="Calibri" pitchFamily="34" charset="0"/>
                <a:ea typeface="Calibri" pitchFamily="34" charset="-122"/>
                <a:cs typeface="Calibri" pitchFamily="34" charset="-120"/>
              </a:rPr>
              <a:t>retention strategy planning, targeted engagement programs, compensation review, and workforce planning.</a:t>
            </a:r>
            <a:endParaRPr lang="en-US" sz="1250" dirty="0"/>
          </a:p>
        </p:txBody>
      </p:sp>
      <p:sp>
        <p:nvSpPr>
          <p:cNvPr id="11" name="Text 9"/>
          <p:cNvSpPr/>
          <p:nvPr/>
        </p:nvSpPr>
        <p:spPr>
          <a:xfrm>
            <a:off x="11521440" y="6446520"/>
            <a:ext cx="457200" cy="320040"/>
          </a:xfrm>
          <a:prstGeom prst="rect">
            <a:avLst/>
          </a:prstGeom>
          <a:noFill/>
          <a:ln/>
        </p:spPr>
        <p:txBody>
          <a:bodyPr wrap="square" rtlCol="0" anchor="ctr"/>
          <a:lstStyle/>
          <a:p>
            <a:pPr algn="r" indent="0" marL="0">
              <a:buNone/>
            </a:pPr>
            <a:r>
              <a:rPr lang="en-US" sz="1000" dirty="0">
                <a:solidFill>
                  <a:srgbClr val="9AA3B2"/>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B4D"/>
        </a:solidFill>
      </p:bgPr>
    </p:bg>
    <p:spTree>
      <p:nvGrpSpPr>
        <p:cNvPr id="1" name=""/>
        <p:cNvGrpSpPr/>
        <p:nvPr/>
      </p:nvGrpSpPr>
      <p:grpSpPr>
        <a:xfrm>
          <a:off x="0" y="0"/>
          <a:ext cx="0" cy="0"/>
          <a:chOff x="0" y="0"/>
          <a:chExt cx="0" cy="0"/>
        </a:xfrm>
      </p:grpSpPr>
      <p:sp>
        <p:nvSpPr>
          <p:cNvPr id="2" name="Shape 0"/>
          <p:cNvSpPr/>
          <p:nvPr/>
        </p:nvSpPr>
        <p:spPr>
          <a:xfrm>
            <a:off x="9692640" y="-1280160"/>
            <a:ext cx="4754880" cy="4754880"/>
          </a:xfrm>
          <a:prstGeom prst="ellipse">
            <a:avLst/>
          </a:prstGeom>
          <a:solidFill>
            <a:srgbClr val="1E2761">
              <a:alpha val="60000"/>
            </a:srgbClr>
          </a:solidFill>
          <a:ln/>
        </p:spPr>
      </p:sp>
      <p:sp>
        <p:nvSpPr>
          <p:cNvPr id="3" name="Shape 1"/>
          <p:cNvSpPr/>
          <p:nvPr/>
        </p:nvSpPr>
        <p:spPr>
          <a:xfrm>
            <a:off x="-1463040" y="4754880"/>
            <a:ext cx="4023360" cy="4023360"/>
          </a:xfrm>
          <a:prstGeom prst="ellipse">
            <a:avLst/>
          </a:prstGeom>
          <a:solidFill>
            <a:srgbClr val="1E2761">
              <a:alpha val="60000"/>
            </a:srgbClr>
          </a:solidFill>
          <a:ln/>
        </p:spPr>
      </p:sp>
      <p:sp>
        <p:nvSpPr>
          <p:cNvPr id="4" name="Text 2"/>
          <p:cNvSpPr txBox="1"/>
          <p:nvPr/>
        </p:nvSpPr>
        <p:spPr>
          <a:xfrm>
            <a:off x="640080" y="502920"/>
            <a:ext cx="10058400" cy="59436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Conclusion &amp; Future Scope</a:t>
            </a:r>
            <a:endParaRPr lang="en-US" sz="3000" dirty="0"/>
          </a:p>
        </p:txBody>
      </p:sp>
      <p:sp>
        <p:nvSpPr>
          <p:cNvPr id="5" name="Text 3"/>
          <p:cNvSpPr txBox="1"/>
          <p:nvPr/>
        </p:nvSpPr>
        <p:spPr>
          <a:xfrm>
            <a:off x="640080" y="1325880"/>
            <a:ext cx="4572000" cy="365760"/>
          </a:xfrm>
          <a:prstGeom prst="rect">
            <a:avLst/>
          </a:prstGeom>
          <a:noFill/>
          <a:ln/>
        </p:spPr>
        <p:txBody>
          <a:bodyPr wrap="square" rtlCol="0" anchor="ctr"/>
          <a:lstStyle/>
          <a:p>
            <a:pPr indent="0" marL="0">
              <a:buNone/>
            </a:pPr>
            <a:r>
              <a:rPr lang="en-US" sz="1500" b="1" dirty="0">
                <a:solidFill>
                  <a:srgbClr val="E8871E"/>
                </a:solidFill>
                <a:latin typeface="Calibri" pitchFamily="34" charset="0"/>
                <a:ea typeface="Calibri" pitchFamily="34" charset="-122"/>
                <a:cs typeface="Calibri" pitchFamily="34" charset="-120"/>
              </a:rPr>
              <a:t>Conclusion</a:t>
            </a:r>
            <a:endParaRPr lang="en-US" sz="1500" dirty="0"/>
          </a:p>
        </p:txBody>
      </p:sp>
      <p:sp>
        <p:nvSpPr>
          <p:cNvPr id="6" name="Text 4"/>
          <p:cNvSpPr txBox="1"/>
          <p:nvPr/>
        </p:nvSpPr>
        <p:spPr>
          <a:xfrm>
            <a:off x="640080" y="1737360"/>
            <a:ext cx="5212080" cy="1463040"/>
          </a:xfrm>
          <a:prstGeom prst="rect">
            <a:avLst/>
          </a:prstGeom>
          <a:noFill/>
          <a:ln/>
        </p:spPr>
        <p:txBody>
          <a:bodyPr wrap="square" rtlCol="0" anchor="ctr"/>
          <a:lstStyle/>
          <a:p>
            <a:pPr marL="342900" indent="-342900">
              <a:lnSpc>
                <a:spcPct val="120000"/>
              </a:lnSpc>
              <a:spcAft>
                <a:spcPts val="800"/>
              </a:spcAft>
              <a:buSzPct val="100000"/>
              <a:buChar char="●"/>
            </a:pPr>
            <a:r>
              <a:rPr lang="en-US" sz="1250" dirty="0">
                <a:solidFill>
                  <a:srgbClr val="CADCFC"/>
                </a:solidFill>
                <a:latin typeface="Calibri" pitchFamily="34" charset="0"/>
                <a:ea typeface="Calibri" pitchFamily="34" charset="-122"/>
                <a:cs typeface="Calibri" pitchFamily="34" charset="-120"/>
              </a:rPr>
              <a:t>Data analysis reveals actionable patterns in employee attrition and supports evidence-based HR decisions.</a:t>
            </a:r>
            <a:endParaRPr lang="en-US" sz="1250" dirty="0"/>
          </a:p>
          <a:p>
            <a:pPr marL="342900" indent="-342900">
              <a:lnSpc>
                <a:spcPct val="120000"/>
              </a:lnSpc>
              <a:spcAft>
                <a:spcPts val="800"/>
              </a:spcAft>
              <a:buSzPct val="100000"/>
              <a:buChar char="●"/>
            </a:pPr>
            <a:r>
              <a:rPr lang="en-US" sz="1250" dirty="0">
                <a:solidFill>
                  <a:srgbClr val="CADCFC"/>
                </a:solidFill>
                <a:latin typeface="Calibri" pitchFamily="34" charset="0"/>
                <a:ea typeface="Calibri" pitchFamily="34" charset="-122"/>
                <a:cs typeface="Calibri" pitchFamily="34" charset="-120"/>
              </a:rPr>
              <a:t>Clear visualizations translate complex relationships into intuitive insights for stakeholders.</a:t>
            </a:r>
            <a:endParaRPr lang="en-US" sz="1250" dirty="0"/>
          </a:p>
        </p:txBody>
      </p:sp>
      <p:sp>
        <p:nvSpPr>
          <p:cNvPr id="7" name="Text 5"/>
          <p:cNvSpPr txBox="1"/>
          <p:nvPr/>
        </p:nvSpPr>
        <p:spPr>
          <a:xfrm>
            <a:off x="6309360" y="1325880"/>
            <a:ext cx="4572000" cy="365760"/>
          </a:xfrm>
          <a:prstGeom prst="rect">
            <a:avLst/>
          </a:prstGeom>
          <a:noFill/>
          <a:ln/>
        </p:spPr>
        <p:txBody>
          <a:bodyPr wrap="square" rtlCol="0" anchor="ctr"/>
          <a:lstStyle/>
          <a:p>
            <a:pPr indent="0" marL="0">
              <a:buNone/>
            </a:pPr>
            <a:r>
              <a:rPr lang="en-US" sz="1500" b="1" dirty="0">
                <a:solidFill>
                  <a:srgbClr val="E8871E"/>
                </a:solidFill>
                <a:latin typeface="Calibri" pitchFamily="34" charset="0"/>
                <a:ea typeface="Calibri" pitchFamily="34" charset="-122"/>
                <a:cs typeface="Calibri" pitchFamily="34" charset="-120"/>
              </a:rPr>
              <a:t>Future Scope</a:t>
            </a:r>
            <a:endParaRPr lang="en-US" sz="1500" dirty="0"/>
          </a:p>
        </p:txBody>
      </p:sp>
      <p:sp>
        <p:nvSpPr>
          <p:cNvPr id="8" name="Text 6"/>
          <p:cNvSpPr txBox="1"/>
          <p:nvPr/>
        </p:nvSpPr>
        <p:spPr>
          <a:xfrm>
            <a:off x="6309360" y="1737360"/>
            <a:ext cx="5212080" cy="3108960"/>
          </a:xfrm>
          <a:prstGeom prst="rect">
            <a:avLst/>
          </a:prstGeom>
          <a:noFill/>
          <a:ln/>
        </p:spPr>
        <p:txBody>
          <a:bodyPr wrap="square" rtlCol="0" anchor="ctr"/>
          <a:lstStyle/>
          <a:p>
            <a:pPr marL="342900" indent="-342900">
              <a:lnSpc>
                <a:spcPct val="120000"/>
              </a:lnSpc>
              <a:spcAft>
                <a:spcPts val="800"/>
              </a:spcAft>
              <a:buSzPct val="100000"/>
              <a:buChar char="●"/>
            </a:pPr>
            <a:r>
              <a:rPr lang="en-US" sz="1200" dirty="0">
                <a:solidFill>
                  <a:srgbClr val="CADCFC"/>
                </a:solidFill>
                <a:latin typeface="Calibri" pitchFamily="34" charset="0"/>
                <a:ea typeface="Calibri" pitchFamily="34" charset="-122"/>
                <a:cs typeface="Calibri" pitchFamily="34" charset="-120"/>
              </a:rPr>
              <a:t>AI-based attrition prediction models for proactive retention</a:t>
            </a:r>
            <a:endParaRPr lang="en-US" sz="1200" dirty="0"/>
          </a:p>
          <a:p>
            <a:pPr marL="342900" indent="-342900">
              <a:lnSpc>
                <a:spcPct val="120000"/>
              </a:lnSpc>
              <a:spcAft>
                <a:spcPts val="800"/>
              </a:spcAft>
              <a:buSzPct val="100000"/>
              <a:buChar char="●"/>
            </a:pPr>
            <a:r>
              <a:rPr lang="en-US" sz="1200" dirty="0">
                <a:solidFill>
                  <a:srgbClr val="CADCFC"/>
                </a:solidFill>
                <a:latin typeface="Calibri" pitchFamily="34" charset="0"/>
                <a:ea typeface="Calibri" pitchFamily="34" charset="-122"/>
                <a:cs typeface="Calibri" pitchFamily="34" charset="-120"/>
              </a:rPr>
              <a:t>Real-time employee engagement monitoring using survey streams</a:t>
            </a:r>
            <a:endParaRPr lang="en-US" sz="1200" dirty="0"/>
          </a:p>
          <a:p>
            <a:pPr marL="342900" indent="-342900">
              <a:lnSpc>
                <a:spcPct val="120000"/>
              </a:lnSpc>
              <a:spcAft>
                <a:spcPts val="800"/>
              </a:spcAft>
              <a:buSzPct val="100000"/>
              <a:buChar char="●"/>
            </a:pPr>
            <a:r>
              <a:rPr lang="en-US" sz="1200" dirty="0">
                <a:solidFill>
                  <a:srgbClr val="CADCFC"/>
                </a:solidFill>
                <a:latin typeface="Calibri" pitchFamily="34" charset="0"/>
                <a:ea typeface="Calibri" pitchFamily="34" charset="-122"/>
                <a:cs typeface="Calibri" pitchFamily="34" charset="-120"/>
              </a:rPr>
              <a:t>Predictive risk modelling with career-path forecasting</a:t>
            </a:r>
            <a:endParaRPr lang="en-US" sz="1200" dirty="0"/>
          </a:p>
          <a:p>
            <a:pPr marL="342900" indent="-342900">
              <a:lnSpc>
                <a:spcPct val="120000"/>
              </a:lnSpc>
              <a:spcAft>
                <a:spcPts val="800"/>
              </a:spcAft>
              <a:buSzPct val="100000"/>
              <a:buChar char="●"/>
            </a:pPr>
            <a:r>
              <a:rPr lang="en-US" sz="1200" dirty="0">
                <a:solidFill>
                  <a:srgbClr val="CADCFC"/>
                </a:solidFill>
                <a:latin typeface="Calibri" pitchFamily="34" charset="0"/>
                <a:ea typeface="Calibri" pitchFamily="34" charset="-122"/>
                <a:cs typeface="Calibri" pitchFamily="34" charset="-120"/>
              </a:rPr>
              <a:t>HR dashboards integrated with performance &amp; engagement systems</a:t>
            </a:r>
            <a:endParaRPr lang="en-US" sz="1200" dirty="0"/>
          </a:p>
          <a:p>
            <a:pPr marL="342900" indent="-342900">
              <a:lnSpc>
                <a:spcPct val="120000"/>
              </a:lnSpc>
              <a:spcAft>
                <a:spcPts val="800"/>
              </a:spcAft>
              <a:buSzPct val="100000"/>
              <a:buChar char="●"/>
            </a:pPr>
            <a:r>
              <a:rPr lang="en-US" sz="1200" dirty="0">
                <a:solidFill>
                  <a:srgbClr val="CADCFC"/>
                </a:solidFill>
                <a:latin typeface="Calibri" pitchFamily="34" charset="0"/>
                <a:ea typeface="Calibri" pitchFamily="34" charset="-122"/>
                <a:cs typeface="Calibri" pitchFamily="34" charset="-120"/>
              </a:rPr>
              <a:t>ML models to prioritize retention actions by risk score</a:t>
            </a:r>
            <a:endParaRPr lang="en-US" sz="1200" dirty="0"/>
          </a:p>
        </p:txBody>
      </p:sp>
      <p:sp>
        <p:nvSpPr>
          <p:cNvPr id="9" name="Text 7"/>
          <p:cNvSpPr txBox="1"/>
          <p:nvPr/>
        </p:nvSpPr>
        <p:spPr>
          <a:xfrm>
            <a:off x="640080" y="5806440"/>
            <a:ext cx="10881360" cy="640080"/>
          </a:xfrm>
          <a:prstGeom prst="rect">
            <a:avLst/>
          </a:prstGeom>
          <a:noFill/>
          <a:ln/>
        </p:spPr>
        <p:txBody>
          <a:bodyPr wrap="square"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THANK YOU</a:t>
            </a:r>
            <a:endParaRPr lang="en-US" sz="2600" dirty="0"/>
          </a:p>
        </p:txBody>
      </p:sp>
      <p:sp>
        <p:nvSpPr>
          <p:cNvPr id="10" name="Text 8"/>
          <p:cNvSpPr/>
          <p:nvPr/>
        </p:nvSpPr>
        <p:spPr>
          <a:xfrm>
            <a:off x="11521440" y="6446520"/>
            <a:ext cx="457200" cy="320040"/>
          </a:xfrm>
          <a:prstGeom prst="rect">
            <a:avLst/>
          </a:prstGeom>
          <a:noFill/>
          <a:ln/>
        </p:spPr>
        <p:txBody>
          <a:bodyPr wrap="square" rtlCol="0" anchor="ctr"/>
          <a:lstStyle/>
          <a:p>
            <a:pPr algn="r" indent="0" marL="0">
              <a:buNone/>
            </a:pPr>
            <a:r>
              <a:rPr lang="en-US" sz="1000" dirty="0">
                <a:solidFill>
                  <a:srgbClr val="9AA3B2"/>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2026-09-09T03:46:14Z</dcterms:created>
  <dcterms:modified xsi:type="dcterms:W3CDTF">2026-09-09T03:46:14Z</dcterms:modified>
</cp:coreProperties>
</file>